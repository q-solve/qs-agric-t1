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7" r:id="rId4"/>
    <p:sldId id="269" r:id="rId5"/>
    <p:sldId id="261" r:id="rId6"/>
    <p:sldId id="262" r:id="rId7"/>
    <p:sldId id="265"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1543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8B52-EDB5-CA64-DE3A-D9E88E7C3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B2EC1-C026-1B17-AAAA-A3D579B7C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4A96C-3776-4566-398B-8D6191AC4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EDE70-CAE0-87D7-8ED5-C3A52BD1676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7478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explain the quantum part of our solution. We used QAOA, a quantum optimization method, to help search for efficient delivery routes. The main challenge is that as we add more factories, the number of possible routes increases very quickly. With two factories, there are only two route options, but with seven factories, there are 5,040 possible routes. To make this problem suitable for quantum computing, we first convert the routing choices and transport costs into a model called CUBO. In simple terms, this gives each possible route a cost score. We then use QAOA to search for routes with lower costs. We started with one truck and two factories, then increased the problem step by step up to seven factories. The main idea is simple: prepare the routing problem, let the quantum algorithm explore the route choices, and compare the result with the classical 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mt="39000"/>
            <a:lum/>
          </a:blip>
          <a:srcRect/>
          <a:stretch>
            <a:fillRect t="-9000" b="-9000"/>
          </a:stretch>
        </a:blipFill>
        <a:effectLst/>
      </p:bgPr>
    </p:bg>
    <p:spTree>
      <p:nvGrpSpPr>
        <p:cNvPr id="1" name=""/>
        <p:cNvGrpSpPr/>
        <p:nvPr/>
      </p:nvGrpSpPr>
      <p:grpSpPr>
        <a:xfrm>
          <a:off x="0" y="0"/>
          <a:ext cx="0" cy="0"/>
          <a:chOff x="0" y="0"/>
          <a:chExt cx="0" cy="0"/>
        </a:xfrm>
      </p:grpSpPr>
      <p:sp>
        <p:nvSpPr>
          <p:cNvPr id="2" name="Shape 0"/>
          <p:cNvSpPr/>
          <p:nvPr/>
        </p:nvSpPr>
        <p:spPr>
          <a:xfrm>
            <a:off x="8433054" y="660654"/>
            <a:ext cx="2976372" cy="2976372"/>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3A3170"/>
            </a:solidFill>
            <a:prstDash val="solid"/>
          </a:ln>
        </p:spPr>
      </p:sp>
      <p:sp>
        <p:nvSpPr>
          <p:cNvPr id="3" name="Shape 1"/>
          <p:cNvSpPr/>
          <p:nvPr/>
        </p:nvSpPr>
        <p:spPr>
          <a:xfrm>
            <a:off x="7856982" y="84582"/>
            <a:ext cx="4128516" cy="4128516"/>
          </a:xfrm>
          <a:prstGeom prst="ellipse">
            <a:avLst/>
          </a:prstGeom>
          <a:ln w="15875">
            <a:solidFill>
              <a:srgbClr val="00C2FF"/>
            </a:solidFill>
            <a:prstDash val="solid"/>
          </a:ln>
        </p:spPr>
      </p:sp>
      <p:sp>
        <p:nvSpPr>
          <p:cNvPr id="4" name="Shape 2"/>
          <p:cNvSpPr/>
          <p:nvPr/>
        </p:nvSpPr>
        <p:spPr>
          <a:xfrm>
            <a:off x="7280910" y="-491490"/>
            <a:ext cx="5280660" cy="5280660"/>
          </a:xfrm>
          <a:prstGeom prst="ellipse">
            <a:avLst/>
          </a:prstGeom>
          <a:ln w="15875">
            <a:solidFill>
              <a:srgbClr val="3A3170"/>
            </a:solidFill>
            <a:prstDash val="dash"/>
          </a:ln>
        </p:spPr>
      </p:sp>
      <p:sp>
        <p:nvSpPr>
          <p:cNvPr id="6" name="Shape 4"/>
          <p:cNvSpPr/>
          <p:nvPr/>
        </p:nvSpPr>
        <p:spPr>
          <a:xfrm>
            <a:off x="11085427" y="2947564"/>
            <a:ext cx="109728" cy="109728"/>
          </a:xfrm>
          <a:prstGeom prst="ellipse">
            <a:avLst/>
          </a:prstGeom>
          <a:solidFill>
            <a:srgbClr val="7C5CFC"/>
          </a:solidFill>
          <a:ln/>
        </p:spPr>
      </p:sp>
      <p:sp>
        <p:nvSpPr>
          <p:cNvPr id="7" name="Shape 5"/>
          <p:cNvSpPr/>
          <p:nvPr/>
        </p:nvSpPr>
        <p:spPr>
          <a:xfrm>
            <a:off x="7926608" y="1387958"/>
            <a:ext cx="109728" cy="109728"/>
          </a:xfrm>
          <a:prstGeom prst="ellipse">
            <a:avLst/>
          </a:prstGeom>
          <a:solidFill>
            <a:srgbClr val="7C5CFC"/>
          </a:solidFill>
          <a:ln/>
        </p:spPr>
      </p:sp>
      <p:sp>
        <p:nvSpPr>
          <p:cNvPr id="8" name="Shape 6"/>
          <p:cNvSpPr/>
          <p:nvPr/>
        </p:nvSpPr>
        <p:spPr>
          <a:xfrm>
            <a:off x="11186541" y="-192617"/>
            <a:ext cx="109728" cy="109728"/>
          </a:xfrm>
          <a:prstGeom prst="ellipse">
            <a:avLst/>
          </a:prstGeom>
          <a:solidFill>
            <a:srgbClr val="7C5CFC"/>
          </a:solidFill>
          <a:ln/>
        </p:spPr>
      </p:sp>
      <p:sp>
        <p:nvSpPr>
          <p:cNvPr id="9" name="Shape 7"/>
          <p:cNvSpPr/>
          <p:nvPr/>
        </p:nvSpPr>
        <p:spPr>
          <a:xfrm>
            <a:off x="9507921" y="4126873"/>
            <a:ext cx="109728" cy="109728"/>
          </a:xfrm>
          <a:prstGeom prst="ellipse">
            <a:avLst/>
          </a:prstGeom>
          <a:solidFill>
            <a:srgbClr val="7C5CFC"/>
          </a:solidFill>
          <a:ln/>
        </p:spPr>
      </p:sp>
      <p:sp>
        <p:nvSpPr>
          <p:cNvPr id="10" name="Text 8"/>
          <p:cNvSpPr txBox="1"/>
          <p:nvPr/>
        </p:nvSpPr>
        <p:spPr>
          <a:xfrm>
            <a:off x="685800" y="685800"/>
            <a:ext cx="7315200" cy="320040"/>
          </a:xfrm>
          <a:prstGeom prst="rect">
            <a:avLst/>
          </a:prstGeom>
          <a:noFill/>
          <a:ln/>
        </p:spPr>
        <p:txBody>
          <a:bodyPr wrap="square" lIns="0" tIns="0" rIns="0" bIns="0" rtlCol="0" anchor="ctr"/>
          <a:lstStyle/>
          <a:p>
            <a:pPr marL="0" indent="0">
              <a:buNone/>
            </a:pPr>
            <a:r>
              <a:rPr lang="en-US" sz="1250" b="1" kern="0" spc="200" dirty="0">
                <a:latin typeface="Calibri" pitchFamily="34" charset="0"/>
                <a:ea typeface="Calibri" pitchFamily="34" charset="-122"/>
                <a:cs typeface="Calibri" pitchFamily="34" charset="-120"/>
              </a:rPr>
              <a:t>Q-SOLVE QUANTUM INNOVATION HACKATHON</a:t>
            </a:r>
            <a:endParaRPr lang="en-US" sz="1250" dirty="0"/>
          </a:p>
        </p:txBody>
      </p:sp>
      <p:sp>
        <p:nvSpPr>
          <p:cNvPr id="11" name="Text 9"/>
          <p:cNvSpPr txBox="1"/>
          <p:nvPr/>
        </p:nvSpPr>
        <p:spPr>
          <a:xfrm>
            <a:off x="658368" y="1920241"/>
            <a:ext cx="5080000" cy="1188720"/>
          </a:xfrm>
          <a:prstGeom prst="rect">
            <a:avLst/>
          </a:prstGeom>
          <a:noFill/>
          <a:ln/>
        </p:spPr>
        <p:txBody>
          <a:bodyPr wrap="square" lIns="0" tIns="0" rIns="0" bIns="0" rtlCol="0" anchor="ctr"/>
          <a:lstStyle/>
          <a:p>
            <a:pPr marL="0" indent="0">
              <a:buNone/>
            </a:pPr>
            <a:r>
              <a:rPr lang="en-US" sz="6600" b="1" i="1" dirty="0">
                <a:solidFill>
                  <a:srgbClr val="00B050"/>
                </a:solidFill>
                <a:latin typeface="Book Antiqua" panose="02040602050305030304" pitchFamily="18" charset="0"/>
                <a:ea typeface="Cambria" pitchFamily="34" charset="-122"/>
                <a:cs typeface="Cambria" pitchFamily="34" charset="-120"/>
              </a:rPr>
              <a:t>Q</a:t>
            </a:r>
            <a:r>
              <a:rPr lang="en-US" sz="6600" b="1" i="1" dirty="0">
                <a:latin typeface="Book Antiqua" panose="02040602050305030304" pitchFamily="18" charset="0"/>
                <a:ea typeface="Cambria" pitchFamily="34" charset="-122"/>
                <a:cs typeface="Cambria" pitchFamily="34" charset="-120"/>
              </a:rPr>
              <a:t>-</a:t>
            </a:r>
            <a:r>
              <a:rPr lang="en-US" sz="6600" b="1" i="1" dirty="0" err="1">
                <a:latin typeface="Book Antiqua" panose="02040602050305030304" pitchFamily="18" charset="0"/>
                <a:ea typeface="Cambria" pitchFamily="34" charset="-122"/>
                <a:cs typeface="Cambria" pitchFamily="34" charset="-120"/>
              </a:rPr>
              <a:t>Ferti</a:t>
            </a:r>
            <a:r>
              <a:rPr lang="en-US" sz="6600" b="1" i="1" dirty="0" err="1">
                <a:solidFill>
                  <a:srgbClr val="00B050"/>
                </a:solidFill>
                <a:latin typeface="Book Antiqua" panose="02040602050305030304" pitchFamily="18" charset="0"/>
                <a:ea typeface="Cambria" pitchFamily="34" charset="-122"/>
                <a:cs typeface="Cambria" pitchFamily="34" charset="-120"/>
              </a:rPr>
              <a:t>Route</a:t>
            </a:r>
            <a:endParaRPr lang="en-US" sz="6600" i="1" dirty="0">
              <a:latin typeface="Book Antiqua" panose="02040602050305030304" pitchFamily="18" charset="0"/>
            </a:endParaRPr>
          </a:p>
        </p:txBody>
      </p:sp>
      <p:sp>
        <p:nvSpPr>
          <p:cNvPr id="12" name="Text 10"/>
          <p:cNvSpPr txBox="1"/>
          <p:nvPr/>
        </p:nvSpPr>
        <p:spPr>
          <a:xfrm>
            <a:off x="477774" y="3246120"/>
            <a:ext cx="7863840" cy="685800"/>
          </a:xfrm>
          <a:prstGeom prst="rect">
            <a:avLst/>
          </a:prstGeom>
          <a:noFill/>
          <a:ln/>
        </p:spPr>
        <p:txBody>
          <a:bodyPr wrap="square" lIns="0" tIns="0" rIns="0" bIns="0" rtlCol="0" anchor="ctr"/>
          <a:lstStyle/>
          <a:p>
            <a:pPr marL="0" indent="0">
              <a:lnSpc>
                <a:spcPct val="115000"/>
              </a:lnSpc>
              <a:buNone/>
            </a:pPr>
            <a:r>
              <a:rPr lang="en-US" sz="2000" b="1" i="1" dirty="0">
                <a:latin typeface="Calibri" pitchFamily="34" charset="0"/>
                <a:ea typeface="Calibri" pitchFamily="34" charset="-122"/>
                <a:cs typeface="Calibri" pitchFamily="34" charset="-120"/>
              </a:rPr>
              <a:t>Quantum–Classical Optimisation of Coffee Fertiliser Distribution in Kirinyaga County</a:t>
            </a:r>
            <a:endParaRPr lang="en-US" sz="2000" b="1" dirty="0"/>
          </a:p>
        </p:txBody>
      </p:sp>
      <p:sp>
        <p:nvSpPr>
          <p:cNvPr id="13" name="Shape 11"/>
          <p:cNvSpPr/>
          <p:nvPr/>
        </p:nvSpPr>
        <p:spPr>
          <a:xfrm>
            <a:off x="685800" y="4160520"/>
            <a:ext cx="2011680" cy="0"/>
          </a:xfrm>
          <a:prstGeom prst="line">
            <a:avLst/>
          </a:prstGeom>
          <a:noFill/>
          <a:ln w="25400">
            <a:solidFill>
              <a:srgbClr val="7C5CFC"/>
            </a:solidFill>
            <a:prstDash val="solid"/>
          </a:ln>
        </p:spPr>
        <p:txBody>
          <a:bodyPr/>
          <a:lstStyle/>
          <a:p>
            <a:endParaRPr lang="en-US" dirty="0"/>
          </a:p>
        </p:txBody>
      </p:sp>
      <p:sp>
        <p:nvSpPr>
          <p:cNvPr id="14" name="Text 12"/>
          <p:cNvSpPr txBox="1"/>
          <p:nvPr/>
        </p:nvSpPr>
        <p:spPr>
          <a:xfrm>
            <a:off x="658368" y="4663441"/>
            <a:ext cx="2743200" cy="274320"/>
          </a:xfrm>
          <a:prstGeom prst="rect">
            <a:avLst/>
          </a:prstGeom>
          <a:noFill/>
          <a:ln/>
        </p:spPr>
        <p:txBody>
          <a:bodyPr wrap="square" lIns="0" tIns="0" rIns="0" bIns="0" rtlCol="0" anchor="ctr"/>
          <a:lstStyle/>
          <a:p>
            <a:pPr marL="0" indent="0">
              <a:buNone/>
            </a:pPr>
            <a:r>
              <a:rPr lang="en-US" sz="2000" b="1" kern="0" spc="200" dirty="0">
                <a:solidFill>
                  <a:srgbClr val="FF0000"/>
                </a:solidFill>
                <a:latin typeface="Book Antiqua" panose="02040602050305030304" pitchFamily="18" charset="0"/>
                <a:ea typeface="Calibri" pitchFamily="34" charset="-122"/>
                <a:cs typeface="Calibri" pitchFamily="34" charset="-120"/>
              </a:rPr>
              <a:t>TEAM </a:t>
            </a:r>
            <a:r>
              <a:rPr lang="en-US" sz="2000" b="1" kern="0" spc="200" dirty="0">
                <a:latin typeface="Book Antiqua" panose="02040602050305030304" pitchFamily="18" charset="0"/>
                <a:ea typeface="Calibri" pitchFamily="34" charset="-122"/>
                <a:cs typeface="Calibri" pitchFamily="34" charset="-120"/>
              </a:rPr>
              <a:t>Q-</a:t>
            </a:r>
            <a:r>
              <a:rPr lang="en-US" sz="2000" b="1" kern="0" spc="200" dirty="0">
                <a:solidFill>
                  <a:srgbClr val="FF0000"/>
                </a:solidFill>
                <a:latin typeface="Book Antiqua" panose="02040602050305030304" pitchFamily="18" charset="0"/>
                <a:ea typeface="Calibri" pitchFamily="34" charset="-122"/>
                <a:cs typeface="Calibri" pitchFamily="34" charset="-120"/>
              </a:rPr>
              <a:t>GEN</a:t>
            </a:r>
            <a:endParaRPr lang="en-US" sz="2000" b="1" dirty="0">
              <a:solidFill>
                <a:srgbClr val="FF0000"/>
              </a:solidFill>
              <a:latin typeface="Book Antiqua" panose="02040602050305030304" pitchFamily="18" charset="0"/>
            </a:endParaRPr>
          </a:p>
        </p:txBody>
      </p:sp>
      <p:sp>
        <p:nvSpPr>
          <p:cNvPr id="15" name="Text 13"/>
          <p:cNvSpPr txBox="1"/>
          <p:nvPr/>
        </p:nvSpPr>
        <p:spPr>
          <a:xfrm>
            <a:off x="685800" y="5142738"/>
            <a:ext cx="201168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Mercy Amondi</a:t>
            </a:r>
            <a:endParaRPr lang="en-US" b="1" dirty="0"/>
          </a:p>
        </p:txBody>
      </p:sp>
      <p:sp>
        <p:nvSpPr>
          <p:cNvPr id="16" name="Text 14"/>
          <p:cNvSpPr txBox="1"/>
          <p:nvPr/>
        </p:nvSpPr>
        <p:spPr>
          <a:xfrm>
            <a:off x="2834640" y="5152898"/>
            <a:ext cx="201168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Akram Ali</a:t>
            </a:r>
            <a:endParaRPr lang="en-US" b="1" dirty="0"/>
          </a:p>
        </p:txBody>
      </p:sp>
      <p:sp>
        <p:nvSpPr>
          <p:cNvPr id="17" name="Text 15"/>
          <p:cNvSpPr txBox="1"/>
          <p:nvPr/>
        </p:nvSpPr>
        <p:spPr>
          <a:xfrm>
            <a:off x="4983480" y="5142738"/>
            <a:ext cx="201168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Peter Kimani</a:t>
            </a:r>
            <a:endParaRPr lang="en-US" b="1" dirty="0"/>
          </a:p>
        </p:txBody>
      </p:sp>
      <p:sp>
        <p:nvSpPr>
          <p:cNvPr id="18" name="Text 16"/>
          <p:cNvSpPr txBox="1"/>
          <p:nvPr/>
        </p:nvSpPr>
        <p:spPr>
          <a:xfrm>
            <a:off x="685800" y="5526786"/>
            <a:ext cx="201168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Ruth Ngotho</a:t>
            </a:r>
            <a:endParaRPr lang="en-US" b="1" dirty="0"/>
          </a:p>
        </p:txBody>
      </p:sp>
      <p:sp>
        <p:nvSpPr>
          <p:cNvPr id="19" name="Text 17"/>
          <p:cNvSpPr txBox="1"/>
          <p:nvPr/>
        </p:nvSpPr>
        <p:spPr>
          <a:xfrm>
            <a:off x="2834640" y="5526786"/>
            <a:ext cx="201168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Evans </a:t>
            </a:r>
            <a:r>
              <a:rPr lang="en-US" b="1" dirty="0" err="1">
                <a:latin typeface="Calibri" pitchFamily="34" charset="0"/>
                <a:ea typeface="Calibri" pitchFamily="34" charset="-122"/>
                <a:cs typeface="Calibri" pitchFamily="34" charset="-120"/>
              </a:rPr>
              <a:t>nomo</a:t>
            </a:r>
            <a:endParaRPr lang="en-US" sz="1400" b="1" dirty="0"/>
          </a:p>
        </p:txBody>
      </p:sp>
      <p:sp>
        <p:nvSpPr>
          <p:cNvPr id="5" name="TextBox 4">
            <a:extLst>
              <a:ext uri="{FF2B5EF4-FFF2-40B4-BE49-F238E27FC236}">
                <a16:creationId xmlns:a16="http://schemas.microsoft.com/office/drawing/2014/main" id="{1747DF32-37FB-DF9B-5E8C-C7B82270BA00}"/>
              </a:ext>
            </a:extLst>
          </p:cNvPr>
          <p:cNvSpPr txBox="1"/>
          <p:nvPr/>
        </p:nvSpPr>
        <p:spPr>
          <a:xfrm>
            <a:off x="469621" y="6172200"/>
            <a:ext cx="3370859" cy="400110"/>
          </a:xfrm>
          <a:prstGeom prst="rect">
            <a:avLst/>
          </a:prstGeom>
          <a:noFill/>
        </p:spPr>
        <p:txBody>
          <a:bodyPr wrap="none" rtlCol="0">
            <a:spAutoFit/>
          </a:bodyPr>
          <a:lstStyle/>
          <a:p>
            <a:r>
              <a:rPr lang="en-US" sz="2000" b="1" dirty="0"/>
              <a:t>Our  Mentor : Dickson Owuor </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0" y="-188215"/>
            <a:ext cx="12192000" cy="778251"/>
          </a:xfrm>
          <a:prstGeom prst="rect">
            <a:avLst/>
          </a:prstGeom>
          <a:solidFill>
            <a:srgbClr val="00B050"/>
          </a:solidFill>
          <a:ln/>
        </p:spPr>
        <p:txBody>
          <a:bodyPr wrap="square" lIns="0" tIns="0" rIns="0" bIns="0" rtlCol="0" anchor="ctr"/>
          <a:lstStyle/>
          <a:p>
            <a:pPr marL="0" indent="0" algn="ctr">
              <a:buNone/>
            </a:pPr>
            <a:r>
              <a:rPr lang="en-US" sz="3200" b="1" dirty="0">
                <a:latin typeface="Calibri" pitchFamily="34" charset="0"/>
                <a:ea typeface="Calibri" pitchFamily="34" charset="-122"/>
                <a:cs typeface="Calibri" pitchFamily="34" charset="-120"/>
              </a:rPr>
              <a:t>01  </a:t>
            </a:r>
            <a:r>
              <a:rPr lang="en-US" sz="3200" b="1" kern="0" spc="200" dirty="0">
                <a:latin typeface="Calibri" pitchFamily="34" charset="0"/>
                <a:ea typeface="Calibri" pitchFamily="34" charset="-122"/>
                <a:cs typeface="Calibri" pitchFamily="34" charset="-120"/>
              </a:rPr>
              <a:t>THE CHALLENGE</a:t>
            </a:r>
            <a:endParaRPr lang="en-US" sz="3200" b="1" dirty="0"/>
          </a:p>
        </p:txBody>
      </p:sp>
      <p:sp>
        <p:nvSpPr>
          <p:cNvPr id="4" name="Text 2"/>
          <p:cNvSpPr txBox="1"/>
          <p:nvPr/>
        </p:nvSpPr>
        <p:spPr>
          <a:xfrm>
            <a:off x="416052" y="1005840"/>
            <a:ext cx="5760720" cy="1554480"/>
          </a:xfrm>
          <a:prstGeom prst="rect">
            <a:avLst/>
          </a:prstGeom>
          <a:noFill/>
          <a:ln/>
        </p:spPr>
        <p:txBody>
          <a:bodyPr wrap="square" lIns="0" tIns="0" rIns="0" bIns="0" rtlCol="0" anchor="t"/>
          <a:lstStyle/>
          <a:p>
            <a:pPr marL="0" indent="0">
              <a:lnSpc>
                <a:spcPct val="125000"/>
              </a:lnSpc>
              <a:buNone/>
            </a:pPr>
            <a:endParaRPr lang="en-US" sz="1500" dirty="0">
              <a:solidFill>
                <a:srgbClr val="4B4670"/>
              </a:solidFill>
              <a:latin typeface="Calibri" pitchFamily="34" charset="0"/>
              <a:ea typeface="Calibri" pitchFamily="34" charset="-122"/>
              <a:cs typeface="Calibri" pitchFamily="34" charset="-120"/>
            </a:endParaRPr>
          </a:p>
          <a:p>
            <a:pPr marL="0" indent="0">
              <a:lnSpc>
                <a:spcPct val="125000"/>
              </a:lnSpc>
              <a:buNone/>
            </a:pPr>
            <a:endParaRPr lang="en-US" sz="1500" dirty="0"/>
          </a:p>
        </p:txBody>
      </p:sp>
      <p:sp>
        <p:nvSpPr>
          <p:cNvPr id="5" name="Text 3"/>
          <p:cNvSpPr txBox="1"/>
          <p:nvPr/>
        </p:nvSpPr>
        <p:spPr>
          <a:xfrm>
            <a:off x="494405" y="4453128"/>
            <a:ext cx="5760720" cy="1554480"/>
          </a:xfrm>
          <a:prstGeom prst="rect">
            <a:avLst/>
          </a:prstGeom>
          <a:noFill/>
          <a:ln/>
        </p:spPr>
        <p:txBody>
          <a:bodyPr wrap="square" lIns="0" tIns="0" rIns="0" bIns="0" rtlCol="0" anchor="t"/>
          <a:lstStyle/>
          <a:p>
            <a:pPr>
              <a:lnSpc>
                <a:spcPct val="150000"/>
              </a:lnSpc>
            </a:pPr>
            <a:r>
              <a:rPr lang="en-US" sz="2000" b="1" dirty="0"/>
              <a:t>The Challenge: </a:t>
            </a:r>
            <a:r>
              <a:rPr lang="en-US" sz="2000" dirty="0"/>
              <a:t>How to determine the most efficient way to distribute fertilizer from NCPB </a:t>
            </a:r>
            <a:r>
              <a:rPr lang="en-US" sz="2000" dirty="0" err="1"/>
              <a:t>Karatina</a:t>
            </a:r>
            <a:r>
              <a:rPr lang="en-US" sz="2000" dirty="0"/>
              <a:t> to the 7 selected coffee factories, while minimizing distance, transport cost, and delivery time</a:t>
            </a:r>
          </a:p>
        </p:txBody>
      </p:sp>
      <p:sp>
        <p:nvSpPr>
          <p:cNvPr id="6" name="Shape 4"/>
          <p:cNvSpPr/>
          <p:nvPr/>
        </p:nvSpPr>
        <p:spPr>
          <a:xfrm>
            <a:off x="6736080" y="1164844"/>
            <a:ext cx="4663440" cy="4709160"/>
          </a:xfrm>
          <a:prstGeom prst="roundRect">
            <a:avLst>
              <a:gd name="adj" fmla="val 2353"/>
            </a:avLst>
          </a:prstGeom>
          <a:solidFill>
            <a:srgbClr val="F6F3FC"/>
          </a:solidFill>
          <a:ln/>
        </p:spPr>
        <p:txBody>
          <a:bodyPr/>
          <a:lstStyle/>
          <a:p>
            <a:endParaRPr lang="en-US" dirty="0">
              <a:solidFill>
                <a:srgbClr val="00B050"/>
              </a:solidFill>
            </a:endParaRPr>
          </a:p>
        </p:txBody>
      </p:sp>
      <p:sp>
        <p:nvSpPr>
          <p:cNvPr id="9" name="Shape 7"/>
          <p:cNvSpPr/>
          <p:nvPr/>
        </p:nvSpPr>
        <p:spPr>
          <a:xfrm flipV="1">
            <a:off x="7589520" y="3543300"/>
            <a:ext cx="3310128" cy="274320"/>
          </a:xfrm>
          <a:prstGeom prst="line">
            <a:avLst/>
          </a:prstGeom>
          <a:noFill/>
          <a:ln w="19050">
            <a:solidFill>
              <a:srgbClr val="C7BEEF"/>
            </a:solidFill>
            <a:prstDash val="solid"/>
          </a:ln>
        </p:spPr>
      </p:sp>
      <p:sp>
        <p:nvSpPr>
          <p:cNvPr id="10" name="Shape 8"/>
          <p:cNvSpPr/>
          <p:nvPr/>
        </p:nvSpPr>
        <p:spPr>
          <a:xfrm>
            <a:off x="7589520" y="3817620"/>
            <a:ext cx="3474720" cy="1577340"/>
          </a:xfrm>
          <a:prstGeom prst="line">
            <a:avLst/>
          </a:prstGeom>
          <a:noFill/>
          <a:ln w="19050">
            <a:solidFill>
              <a:srgbClr val="C7BEEF"/>
            </a:solidFill>
            <a:prstDash val="solid"/>
          </a:ln>
        </p:spPr>
      </p:sp>
      <p:sp>
        <p:nvSpPr>
          <p:cNvPr id="11" name="Shape 9"/>
          <p:cNvSpPr/>
          <p:nvPr/>
        </p:nvSpPr>
        <p:spPr>
          <a:xfrm>
            <a:off x="7333488" y="3561588"/>
            <a:ext cx="512064" cy="512064"/>
          </a:xfrm>
          <a:prstGeom prst="ellipse">
            <a:avLst/>
          </a:prstGeom>
          <a:solidFill>
            <a:srgbClr val="17123A"/>
          </a:solidFill>
          <a:ln/>
        </p:spPr>
      </p:sp>
      <p:pic>
        <p:nvPicPr>
          <p:cNvPr id="12" name="Image 0" descr="icons/truck.png"/>
          <p:cNvPicPr>
            <a:picLocks noChangeAspect="1"/>
          </p:cNvPicPr>
          <p:nvPr/>
        </p:nvPicPr>
        <p:blipFill>
          <a:blip r:embed="rId3"/>
          <a:stretch>
            <a:fillRect/>
          </a:stretch>
        </p:blipFill>
        <p:spPr>
          <a:xfrm>
            <a:off x="7443216" y="3671316"/>
            <a:ext cx="292608" cy="292608"/>
          </a:xfrm>
          <a:prstGeom prst="rect">
            <a:avLst/>
          </a:prstGeom>
        </p:spPr>
      </p:pic>
      <p:sp>
        <p:nvSpPr>
          <p:cNvPr id="13" name="Text 10"/>
          <p:cNvSpPr txBox="1"/>
          <p:nvPr/>
        </p:nvSpPr>
        <p:spPr>
          <a:xfrm>
            <a:off x="6766560" y="4110228"/>
            <a:ext cx="1645920" cy="457200"/>
          </a:xfrm>
          <a:prstGeom prst="rect">
            <a:avLst/>
          </a:prstGeom>
          <a:noFill/>
          <a:ln/>
        </p:spPr>
        <p:txBody>
          <a:bodyPr wrap="square" lIns="0" tIns="0" rIns="0" bIns="0" rtlCol="0" anchor="ctr"/>
          <a:lstStyle/>
          <a:p>
            <a:pPr marL="0" indent="0" algn="ctr">
              <a:buNone/>
            </a:pPr>
            <a:r>
              <a:rPr lang="en-US" sz="950" b="1" dirty="0">
                <a:solidFill>
                  <a:srgbClr val="1F1A3D"/>
                </a:solidFill>
                <a:latin typeface="Calibri" pitchFamily="34" charset="0"/>
                <a:ea typeface="Calibri" pitchFamily="34" charset="-122"/>
                <a:cs typeface="Calibri" pitchFamily="34" charset="-120"/>
              </a:rPr>
              <a:t>NCPB Karatina</a:t>
            </a:r>
            <a:endParaRPr lang="en-US" sz="950" dirty="0"/>
          </a:p>
          <a:p>
            <a:pPr marL="0" indent="0" algn="ctr">
              <a:buNone/>
            </a:pPr>
            <a:r>
              <a:rPr lang="en-US" sz="950" b="1" dirty="0">
                <a:solidFill>
                  <a:srgbClr val="1F1A3D"/>
                </a:solidFill>
                <a:latin typeface="Calibri" pitchFamily="34" charset="0"/>
                <a:ea typeface="Calibri" pitchFamily="34" charset="-122"/>
                <a:cs typeface="Calibri" pitchFamily="34" charset="-120"/>
              </a:rPr>
              <a:t>Depot</a:t>
            </a:r>
            <a:endParaRPr lang="en-US" sz="950" dirty="0"/>
          </a:p>
        </p:txBody>
      </p:sp>
      <p:sp>
        <p:nvSpPr>
          <p:cNvPr id="14" name="Shape 11"/>
          <p:cNvSpPr/>
          <p:nvPr/>
        </p:nvSpPr>
        <p:spPr>
          <a:xfrm>
            <a:off x="10716768" y="1938528"/>
            <a:ext cx="329184" cy="329184"/>
          </a:xfrm>
          <a:prstGeom prst="ellipse">
            <a:avLst/>
          </a:prstGeom>
          <a:solidFill>
            <a:srgbClr val="00B050"/>
          </a:solidFill>
          <a:ln/>
        </p:spPr>
      </p:sp>
      <p:sp>
        <p:nvSpPr>
          <p:cNvPr id="15" name="Text 12"/>
          <p:cNvSpPr txBox="1"/>
          <p:nvPr/>
        </p:nvSpPr>
        <p:spPr>
          <a:xfrm>
            <a:off x="10104120" y="2286000"/>
            <a:ext cx="1554480" cy="274320"/>
          </a:xfrm>
          <a:prstGeom prst="rect">
            <a:avLst/>
          </a:prstGeom>
          <a:noFill/>
          <a:ln/>
        </p:spPr>
        <p:txBody>
          <a:bodyPr wrap="square" lIns="0" tIns="0" rIns="0" bIns="0" rtlCol="0" anchor="ctr"/>
          <a:lstStyle/>
          <a:p>
            <a:pPr marL="0" indent="0" algn="ctr">
              <a:buNone/>
            </a:pPr>
            <a:r>
              <a:rPr lang="en-US" sz="950" dirty="0">
                <a:solidFill>
                  <a:srgbClr val="4B4670"/>
                </a:solidFill>
                <a:latin typeface="Calibri" pitchFamily="34" charset="0"/>
                <a:ea typeface="Calibri" pitchFamily="34" charset="-122"/>
                <a:cs typeface="Calibri" pitchFamily="34" charset="-120"/>
              </a:rPr>
              <a:t>Factory A</a:t>
            </a:r>
            <a:endParaRPr lang="en-US" sz="950" dirty="0"/>
          </a:p>
        </p:txBody>
      </p:sp>
      <p:sp>
        <p:nvSpPr>
          <p:cNvPr id="16" name="Shape 13"/>
          <p:cNvSpPr/>
          <p:nvPr/>
        </p:nvSpPr>
        <p:spPr>
          <a:xfrm>
            <a:off x="10803636" y="2680208"/>
            <a:ext cx="329184" cy="329184"/>
          </a:xfrm>
          <a:prstGeom prst="ellipse">
            <a:avLst/>
          </a:prstGeom>
          <a:solidFill>
            <a:srgbClr val="7C5CFC"/>
          </a:solidFill>
          <a:ln/>
        </p:spPr>
      </p:sp>
      <p:sp>
        <p:nvSpPr>
          <p:cNvPr id="17" name="Text 14"/>
          <p:cNvSpPr txBox="1"/>
          <p:nvPr/>
        </p:nvSpPr>
        <p:spPr>
          <a:xfrm>
            <a:off x="10287000" y="2954528"/>
            <a:ext cx="1554480" cy="274320"/>
          </a:xfrm>
          <a:prstGeom prst="rect">
            <a:avLst/>
          </a:prstGeom>
          <a:noFill/>
          <a:ln/>
        </p:spPr>
        <p:txBody>
          <a:bodyPr wrap="square" lIns="0" tIns="0" rIns="0" bIns="0" rtlCol="0" anchor="ctr"/>
          <a:lstStyle/>
          <a:p>
            <a:pPr marL="0" indent="0" algn="ctr">
              <a:buNone/>
            </a:pPr>
            <a:r>
              <a:rPr lang="en-US" sz="950" dirty="0">
                <a:solidFill>
                  <a:srgbClr val="4B4670"/>
                </a:solidFill>
                <a:latin typeface="Calibri" pitchFamily="34" charset="0"/>
                <a:ea typeface="Calibri" pitchFamily="34" charset="-122"/>
                <a:cs typeface="Calibri" pitchFamily="34" charset="-120"/>
              </a:rPr>
              <a:t>Factory B</a:t>
            </a:r>
            <a:endParaRPr lang="en-US" sz="950" dirty="0"/>
          </a:p>
        </p:txBody>
      </p:sp>
      <p:sp>
        <p:nvSpPr>
          <p:cNvPr id="18" name="Shape 15"/>
          <p:cNvSpPr/>
          <p:nvPr/>
        </p:nvSpPr>
        <p:spPr>
          <a:xfrm>
            <a:off x="10821924" y="3298444"/>
            <a:ext cx="329184" cy="329184"/>
          </a:xfrm>
          <a:prstGeom prst="ellipse">
            <a:avLst/>
          </a:prstGeom>
          <a:solidFill>
            <a:srgbClr val="00B050"/>
          </a:solidFill>
          <a:ln/>
        </p:spPr>
      </p:sp>
      <p:sp>
        <p:nvSpPr>
          <p:cNvPr id="19" name="Text 16"/>
          <p:cNvSpPr txBox="1"/>
          <p:nvPr/>
        </p:nvSpPr>
        <p:spPr>
          <a:xfrm>
            <a:off x="10143115" y="5527040"/>
            <a:ext cx="1554480" cy="274320"/>
          </a:xfrm>
          <a:prstGeom prst="rect">
            <a:avLst/>
          </a:prstGeom>
          <a:noFill/>
          <a:ln/>
        </p:spPr>
        <p:txBody>
          <a:bodyPr wrap="square" lIns="0" tIns="0" rIns="0" bIns="0" rtlCol="0" anchor="ctr"/>
          <a:lstStyle/>
          <a:p>
            <a:pPr marL="0" indent="0" algn="ctr">
              <a:buNone/>
            </a:pPr>
            <a:r>
              <a:rPr lang="en-US" sz="950" dirty="0">
                <a:solidFill>
                  <a:srgbClr val="4B4670"/>
                </a:solidFill>
                <a:latin typeface="Calibri" pitchFamily="34" charset="0"/>
                <a:ea typeface="Calibri" pitchFamily="34" charset="-122"/>
                <a:cs typeface="Calibri" pitchFamily="34" charset="-120"/>
              </a:rPr>
              <a:t>Factory f</a:t>
            </a:r>
            <a:endParaRPr lang="en-US" sz="950" dirty="0"/>
          </a:p>
        </p:txBody>
      </p:sp>
      <p:sp>
        <p:nvSpPr>
          <p:cNvPr id="20" name="Shape 17"/>
          <p:cNvSpPr/>
          <p:nvPr/>
        </p:nvSpPr>
        <p:spPr>
          <a:xfrm>
            <a:off x="10899648" y="5230368"/>
            <a:ext cx="329184" cy="329184"/>
          </a:xfrm>
          <a:prstGeom prst="ellipse">
            <a:avLst/>
          </a:prstGeom>
          <a:solidFill>
            <a:srgbClr val="7C5CFC"/>
          </a:solidFill>
          <a:ln/>
        </p:spPr>
      </p:sp>
      <p:sp>
        <p:nvSpPr>
          <p:cNvPr id="21" name="Text 18"/>
          <p:cNvSpPr txBox="1"/>
          <p:nvPr/>
        </p:nvSpPr>
        <p:spPr>
          <a:xfrm>
            <a:off x="10355580" y="4207256"/>
            <a:ext cx="1554480" cy="274320"/>
          </a:xfrm>
          <a:prstGeom prst="rect">
            <a:avLst/>
          </a:prstGeom>
          <a:noFill/>
          <a:ln/>
        </p:spPr>
        <p:txBody>
          <a:bodyPr wrap="square" lIns="0" tIns="0" rIns="0" bIns="0" rtlCol="0" anchor="ctr"/>
          <a:lstStyle/>
          <a:p>
            <a:pPr marL="0" indent="0" algn="ctr">
              <a:buNone/>
            </a:pPr>
            <a:r>
              <a:rPr lang="en-US" sz="950" dirty="0">
                <a:solidFill>
                  <a:srgbClr val="4B4670"/>
                </a:solidFill>
                <a:latin typeface="Calibri" pitchFamily="34" charset="0"/>
                <a:ea typeface="Calibri" pitchFamily="34" charset="-122"/>
                <a:cs typeface="Calibri" pitchFamily="34" charset="-120"/>
              </a:rPr>
              <a:t>Factory D</a:t>
            </a:r>
            <a:endParaRPr lang="en-US" sz="950" dirty="0"/>
          </a:p>
        </p:txBody>
      </p:sp>
      <p:sp>
        <p:nvSpPr>
          <p:cNvPr id="22" name="Text 19"/>
          <p:cNvSpPr txBox="1"/>
          <p:nvPr/>
        </p:nvSpPr>
        <p:spPr>
          <a:xfrm>
            <a:off x="11277295" y="6355080"/>
            <a:ext cx="548640" cy="274320"/>
          </a:xfrm>
          <a:prstGeom prst="rect">
            <a:avLst/>
          </a:prstGeom>
          <a:noFill/>
          <a:ln/>
        </p:spPr>
        <p:txBody>
          <a:bodyPr wrap="square" lIns="0" tIns="0" rIns="0" bIns="0" rtlCol="0" anchor="ctr"/>
          <a:lstStyle/>
          <a:p>
            <a:pPr marL="0" indent="0" algn="r">
              <a:buNone/>
            </a:pPr>
            <a:r>
              <a:rPr lang="en-US" sz="1000" dirty="0">
                <a:solidFill>
                  <a:srgbClr val="8B85AA"/>
                </a:solidFill>
                <a:latin typeface="Calibri" pitchFamily="34" charset="0"/>
                <a:ea typeface="Calibri" pitchFamily="34" charset="-122"/>
                <a:cs typeface="Calibri" pitchFamily="34" charset="-120"/>
              </a:rPr>
              <a:t>02</a:t>
            </a:r>
            <a:endParaRPr lang="en-US" sz="1000" dirty="0"/>
          </a:p>
        </p:txBody>
      </p:sp>
      <p:sp>
        <p:nvSpPr>
          <p:cNvPr id="24" name="Shape 6">
            <a:extLst>
              <a:ext uri="{FF2B5EF4-FFF2-40B4-BE49-F238E27FC236}">
                <a16:creationId xmlns:a16="http://schemas.microsoft.com/office/drawing/2014/main" id="{1C92020F-BB3D-312A-D547-459532B568BE}"/>
              </a:ext>
            </a:extLst>
          </p:cNvPr>
          <p:cNvSpPr/>
          <p:nvPr/>
        </p:nvSpPr>
        <p:spPr>
          <a:xfrm flipV="1">
            <a:off x="7767828" y="2930652"/>
            <a:ext cx="3072384" cy="755396"/>
          </a:xfrm>
          <a:prstGeom prst="line">
            <a:avLst/>
          </a:prstGeom>
          <a:noFill/>
          <a:ln w="19050">
            <a:solidFill>
              <a:srgbClr val="C7BEEF"/>
            </a:solidFill>
            <a:prstDash val="solid"/>
          </a:ln>
        </p:spPr>
      </p:sp>
      <p:sp>
        <p:nvSpPr>
          <p:cNvPr id="28" name="Shape 6">
            <a:extLst>
              <a:ext uri="{FF2B5EF4-FFF2-40B4-BE49-F238E27FC236}">
                <a16:creationId xmlns:a16="http://schemas.microsoft.com/office/drawing/2014/main" id="{FC269607-0BDD-702D-A2E8-7F4B412D9F32}"/>
              </a:ext>
            </a:extLst>
          </p:cNvPr>
          <p:cNvSpPr/>
          <p:nvPr/>
        </p:nvSpPr>
        <p:spPr>
          <a:xfrm flipV="1">
            <a:off x="7854696" y="2212848"/>
            <a:ext cx="2898648" cy="1394460"/>
          </a:xfrm>
          <a:prstGeom prst="line">
            <a:avLst/>
          </a:prstGeom>
          <a:noFill/>
          <a:ln w="19050">
            <a:solidFill>
              <a:srgbClr val="C7BEEF"/>
            </a:solidFill>
            <a:prstDash val="solid"/>
          </a:ln>
        </p:spPr>
        <p:txBody>
          <a:bodyPr/>
          <a:lstStyle/>
          <a:p>
            <a:endParaRPr lang="en-US" dirty="0"/>
          </a:p>
        </p:txBody>
      </p:sp>
      <p:sp>
        <p:nvSpPr>
          <p:cNvPr id="8" name="Shape 15">
            <a:extLst>
              <a:ext uri="{FF2B5EF4-FFF2-40B4-BE49-F238E27FC236}">
                <a16:creationId xmlns:a16="http://schemas.microsoft.com/office/drawing/2014/main" id="{DEEC51AB-D5DA-9C5C-3990-86D4E7627ABF}"/>
              </a:ext>
            </a:extLst>
          </p:cNvPr>
          <p:cNvSpPr/>
          <p:nvPr/>
        </p:nvSpPr>
        <p:spPr>
          <a:xfrm>
            <a:off x="10845800" y="3936492"/>
            <a:ext cx="329184" cy="329184"/>
          </a:xfrm>
          <a:prstGeom prst="ellipse">
            <a:avLst/>
          </a:prstGeom>
          <a:solidFill>
            <a:srgbClr val="7C5CFC"/>
          </a:solidFill>
          <a:ln/>
        </p:spPr>
      </p:sp>
      <p:sp>
        <p:nvSpPr>
          <p:cNvPr id="25" name="Shape 8">
            <a:extLst>
              <a:ext uri="{FF2B5EF4-FFF2-40B4-BE49-F238E27FC236}">
                <a16:creationId xmlns:a16="http://schemas.microsoft.com/office/drawing/2014/main" id="{B49F52B7-4CB4-0083-F6D5-8671B53D3514}"/>
              </a:ext>
            </a:extLst>
          </p:cNvPr>
          <p:cNvSpPr/>
          <p:nvPr/>
        </p:nvSpPr>
        <p:spPr>
          <a:xfrm>
            <a:off x="7785227" y="3797300"/>
            <a:ext cx="3268853" cy="832612"/>
          </a:xfrm>
          <a:prstGeom prst="line">
            <a:avLst/>
          </a:prstGeom>
          <a:noFill/>
          <a:ln w="19050">
            <a:solidFill>
              <a:srgbClr val="C7BEEF"/>
            </a:solidFill>
            <a:prstDash val="solid"/>
          </a:ln>
        </p:spPr>
      </p:sp>
      <p:sp>
        <p:nvSpPr>
          <p:cNvPr id="27" name="Shape 8">
            <a:extLst>
              <a:ext uri="{FF2B5EF4-FFF2-40B4-BE49-F238E27FC236}">
                <a16:creationId xmlns:a16="http://schemas.microsoft.com/office/drawing/2014/main" id="{414F8C09-676D-FC3B-B085-2CE68DF64AF4}"/>
              </a:ext>
            </a:extLst>
          </p:cNvPr>
          <p:cNvSpPr/>
          <p:nvPr/>
        </p:nvSpPr>
        <p:spPr>
          <a:xfrm>
            <a:off x="7767828" y="3777742"/>
            <a:ext cx="3181604" cy="353822"/>
          </a:xfrm>
          <a:prstGeom prst="line">
            <a:avLst/>
          </a:prstGeom>
          <a:noFill/>
          <a:ln w="19050">
            <a:solidFill>
              <a:srgbClr val="C7BEEF"/>
            </a:solidFill>
            <a:prstDash val="solid"/>
          </a:ln>
        </p:spPr>
      </p:sp>
      <p:sp>
        <p:nvSpPr>
          <p:cNvPr id="30" name="Shape 15">
            <a:extLst>
              <a:ext uri="{FF2B5EF4-FFF2-40B4-BE49-F238E27FC236}">
                <a16:creationId xmlns:a16="http://schemas.microsoft.com/office/drawing/2014/main" id="{06E1C805-DA96-3841-3BAB-CDEE918013E8}"/>
              </a:ext>
            </a:extLst>
          </p:cNvPr>
          <p:cNvSpPr/>
          <p:nvPr/>
        </p:nvSpPr>
        <p:spPr>
          <a:xfrm>
            <a:off x="10957306" y="4525264"/>
            <a:ext cx="329184" cy="329184"/>
          </a:xfrm>
          <a:prstGeom prst="ellipse">
            <a:avLst/>
          </a:prstGeom>
          <a:solidFill>
            <a:srgbClr val="00B050"/>
          </a:solidFill>
          <a:ln/>
        </p:spPr>
      </p:sp>
      <p:sp>
        <p:nvSpPr>
          <p:cNvPr id="31" name="TextBox 30">
            <a:extLst>
              <a:ext uri="{FF2B5EF4-FFF2-40B4-BE49-F238E27FC236}">
                <a16:creationId xmlns:a16="http://schemas.microsoft.com/office/drawing/2014/main" id="{693A1999-2869-301C-D982-B7DEDF007400}"/>
              </a:ext>
            </a:extLst>
          </p:cNvPr>
          <p:cNvSpPr txBox="1"/>
          <p:nvPr/>
        </p:nvSpPr>
        <p:spPr>
          <a:xfrm>
            <a:off x="10777594" y="4855215"/>
            <a:ext cx="710451" cy="261610"/>
          </a:xfrm>
          <a:prstGeom prst="rect">
            <a:avLst/>
          </a:prstGeom>
          <a:noFill/>
        </p:spPr>
        <p:txBody>
          <a:bodyPr wrap="none" rtlCol="0">
            <a:spAutoFit/>
          </a:bodyPr>
          <a:lstStyle/>
          <a:p>
            <a:r>
              <a:rPr lang="en-US" sz="1100" dirty="0"/>
              <a:t>Factory E</a:t>
            </a:r>
            <a:endParaRPr lang="en-US" dirty="0"/>
          </a:p>
        </p:txBody>
      </p:sp>
      <p:sp>
        <p:nvSpPr>
          <p:cNvPr id="33" name="Text 16">
            <a:extLst>
              <a:ext uri="{FF2B5EF4-FFF2-40B4-BE49-F238E27FC236}">
                <a16:creationId xmlns:a16="http://schemas.microsoft.com/office/drawing/2014/main" id="{AAA0B48C-3A0C-525C-2BC1-EBBB7CB60603}"/>
              </a:ext>
            </a:extLst>
          </p:cNvPr>
          <p:cNvSpPr txBox="1"/>
          <p:nvPr/>
        </p:nvSpPr>
        <p:spPr>
          <a:xfrm>
            <a:off x="10367899" y="3627628"/>
            <a:ext cx="1554480" cy="274320"/>
          </a:xfrm>
          <a:prstGeom prst="rect">
            <a:avLst/>
          </a:prstGeom>
          <a:noFill/>
          <a:ln/>
        </p:spPr>
        <p:txBody>
          <a:bodyPr wrap="square" lIns="0" tIns="0" rIns="0" bIns="0" rtlCol="0" anchor="ctr"/>
          <a:lstStyle/>
          <a:p>
            <a:pPr marL="0" indent="0" algn="ctr">
              <a:buNone/>
            </a:pPr>
            <a:r>
              <a:rPr lang="en-US" sz="950" dirty="0">
                <a:solidFill>
                  <a:srgbClr val="4B4670"/>
                </a:solidFill>
                <a:latin typeface="Calibri" pitchFamily="34" charset="0"/>
                <a:ea typeface="Calibri" pitchFamily="34" charset="-122"/>
                <a:cs typeface="Calibri" pitchFamily="34" charset="-120"/>
              </a:rPr>
              <a:t>Factory C</a:t>
            </a:r>
            <a:endParaRPr lang="en-US" sz="950" dirty="0"/>
          </a:p>
        </p:txBody>
      </p:sp>
      <p:pic>
        <p:nvPicPr>
          <p:cNvPr id="35" name="Picture 34">
            <a:extLst>
              <a:ext uri="{FF2B5EF4-FFF2-40B4-BE49-F238E27FC236}">
                <a16:creationId xmlns:a16="http://schemas.microsoft.com/office/drawing/2014/main" id="{2E10FF57-44E4-9092-8766-CB5376593FCD}"/>
              </a:ext>
            </a:extLst>
          </p:cNvPr>
          <p:cNvPicPr>
            <a:picLocks noChangeAspect="1"/>
          </p:cNvPicPr>
          <p:nvPr/>
        </p:nvPicPr>
        <p:blipFill>
          <a:blip r:embed="rId4"/>
          <a:stretch>
            <a:fillRect/>
          </a:stretch>
        </p:blipFill>
        <p:spPr>
          <a:xfrm>
            <a:off x="117976" y="700214"/>
            <a:ext cx="5622423" cy="3548130"/>
          </a:xfrm>
          <a:prstGeom prst="rect">
            <a:avLst/>
          </a:prstGeom>
        </p:spPr>
      </p:pic>
      <p:sp>
        <p:nvSpPr>
          <p:cNvPr id="3" name="TextBox 2">
            <a:extLst>
              <a:ext uri="{FF2B5EF4-FFF2-40B4-BE49-F238E27FC236}">
                <a16:creationId xmlns:a16="http://schemas.microsoft.com/office/drawing/2014/main" id="{801A26AB-44E7-1E7F-E53F-AA332FF10C93}"/>
              </a:ext>
            </a:extLst>
          </p:cNvPr>
          <p:cNvSpPr txBox="1"/>
          <p:nvPr/>
        </p:nvSpPr>
        <p:spPr>
          <a:xfrm>
            <a:off x="6241675" y="804164"/>
            <a:ext cx="5455920" cy="5430520"/>
          </a:xfrm>
          <a:prstGeom prst="rect">
            <a:avLst/>
          </a:prstGeom>
          <a:noFill/>
        </p:spPr>
        <p:txBody>
          <a:bodyPr wrap="square" rtlCol="0">
            <a:spAutoFit/>
          </a:bodyPr>
          <a:lstStyle/>
          <a:p>
            <a:endParaRPr lang="en-US" dirty="0"/>
          </a:p>
        </p:txBody>
      </p:sp>
      <p:pic>
        <p:nvPicPr>
          <p:cNvPr id="23" name="Picture 22">
            <a:extLst>
              <a:ext uri="{FF2B5EF4-FFF2-40B4-BE49-F238E27FC236}">
                <a16:creationId xmlns:a16="http://schemas.microsoft.com/office/drawing/2014/main" id="{D0B9F268-A75B-4736-52F0-6F66703A6EE4}"/>
              </a:ext>
            </a:extLst>
          </p:cNvPr>
          <p:cNvPicPr>
            <a:picLocks noChangeAspect="1"/>
          </p:cNvPicPr>
          <p:nvPr/>
        </p:nvPicPr>
        <p:blipFill>
          <a:blip r:embed="rId5"/>
          <a:srcRect t="10043" b="4443"/>
          <a:stretch>
            <a:fillRect/>
          </a:stretch>
        </p:blipFill>
        <p:spPr>
          <a:xfrm>
            <a:off x="8848725" y="675037"/>
            <a:ext cx="3068955" cy="586454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A6150-84BB-A7B3-2F0A-85AF401BCB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0C35CC9-11AC-4242-A570-7F3EA9D0BAE3}"/>
              </a:ext>
            </a:extLst>
          </p:cNvPr>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dirty="0">
                <a:solidFill>
                  <a:srgbClr val="00B050"/>
                </a:solidFill>
                <a:latin typeface="Calibri" pitchFamily="34" charset="0"/>
                <a:ea typeface="Calibri" pitchFamily="34" charset="-122"/>
                <a:cs typeface="Calibri" pitchFamily="34" charset="-120"/>
              </a:rPr>
              <a:t>02</a:t>
            </a:r>
            <a:r>
              <a:rPr lang="en-US" sz="1200" b="1" dirty="0">
                <a:solidFill>
                  <a:srgbClr val="00C2FF"/>
                </a:solidFill>
                <a:latin typeface="Calibri" pitchFamily="34" charset="0"/>
                <a:ea typeface="Calibri" pitchFamily="34" charset="-122"/>
                <a:cs typeface="Calibri" pitchFamily="34" charset="-120"/>
              </a:rPr>
              <a:t>  </a:t>
            </a:r>
            <a:r>
              <a:rPr lang="en-US" sz="1200" b="1" kern="0" spc="200" dirty="0">
                <a:solidFill>
                  <a:srgbClr val="8B85AA"/>
                </a:solidFill>
                <a:latin typeface="Calibri" pitchFamily="34" charset="0"/>
                <a:ea typeface="Calibri" pitchFamily="34" charset="-122"/>
                <a:cs typeface="Calibri" pitchFamily="34" charset="-120"/>
              </a:rPr>
              <a:t>OUR APPROACH</a:t>
            </a:r>
            <a:endParaRPr lang="en-US" sz="1200" dirty="0"/>
          </a:p>
        </p:txBody>
      </p:sp>
      <p:sp>
        <p:nvSpPr>
          <p:cNvPr id="3" name="Text 1">
            <a:extLst>
              <a:ext uri="{FF2B5EF4-FFF2-40B4-BE49-F238E27FC236}">
                <a16:creationId xmlns:a16="http://schemas.microsoft.com/office/drawing/2014/main" id="{89AE1EF9-D30D-CEFC-BB78-23036F4E81B0}"/>
              </a:ext>
            </a:extLst>
          </p:cNvPr>
          <p:cNvSpPr txBox="1"/>
          <p:nvPr/>
        </p:nvSpPr>
        <p:spPr>
          <a:xfrm>
            <a:off x="-36944" y="0"/>
            <a:ext cx="12192000" cy="777240"/>
          </a:xfrm>
          <a:prstGeom prst="rect">
            <a:avLst/>
          </a:prstGeom>
          <a:solidFill>
            <a:srgbClr val="00B050"/>
          </a:solidFill>
          <a:ln/>
        </p:spPr>
        <p:txBody>
          <a:bodyPr wrap="square" lIns="0" tIns="0" rIns="0" bIns="0" rtlCol="0" anchor="ctr"/>
          <a:lstStyle/>
          <a:p>
            <a:pPr marL="0" indent="0" algn="ctr">
              <a:buNone/>
            </a:pPr>
            <a:r>
              <a:rPr lang="en-US" sz="3600" b="1" dirty="0">
                <a:latin typeface="Cambria" pitchFamily="34" charset="0"/>
                <a:ea typeface="Cambria" pitchFamily="34" charset="-122"/>
                <a:cs typeface="Cambria" pitchFamily="34" charset="-120"/>
              </a:rPr>
              <a:t>An Optimisation-Based Distribution Model</a:t>
            </a:r>
            <a:endParaRPr lang="en-US" sz="3600" dirty="0"/>
          </a:p>
        </p:txBody>
      </p:sp>
      <p:sp>
        <p:nvSpPr>
          <p:cNvPr id="13" name="Text 9">
            <a:extLst>
              <a:ext uri="{FF2B5EF4-FFF2-40B4-BE49-F238E27FC236}">
                <a16:creationId xmlns:a16="http://schemas.microsoft.com/office/drawing/2014/main" id="{7F189830-91F2-611A-4084-1D0E32CB046A}"/>
              </a:ext>
            </a:extLst>
          </p:cNvPr>
          <p:cNvSpPr txBox="1"/>
          <p:nvPr/>
        </p:nvSpPr>
        <p:spPr>
          <a:xfrm>
            <a:off x="4709160" y="3977640"/>
            <a:ext cx="2743200" cy="502920"/>
          </a:xfrm>
          <a:prstGeom prst="rect">
            <a:avLst/>
          </a:prstGeom>
          <a:noFill/>
          <a:ln/>
        </p:spPr>
        <p:txBody>
          <a:bodyPr wrap="square" lIns="0" tIns="0" rIns="0" bIns="0" rtlCol="0" anchor="ctr"/>
          <a:lstStyle/>
          <a:p>
            <a:pPr marL="0" indent="0">
              <a:buNone/>
            </a:pPr>
            <a:endParaRPr lang="en-US" sz="1650" dirty="0"/>
          </a:p>
        </p:txBody>
      </p:sp>
      <p:sp>
        <p:nvSpPr>
          <p:cNvPr id="19" name="Text 14">
            <a:extLst>
              <a:ext uri="{FF2B5EF4-FFF2-40B4-BE49-F238E27FC236}">
                <a16:creationId xmlns:a16="http://schemas.microsoft.com/office/drawing/2014/main" id="{7479C5C1-9CB1-959C-B015-B348FC62C8C8}"/>
              </a:ext>
            </a:extLst>
          </p:cNvPr>
          <p:cNvSpPr txBox="1"/>
          <p:nvPr/>
        </p:nvSpPr>
        <p:spPr>
          <a:xfrm>
            <a:off x="8458200" y="4480560"/>
            <a:ext cx="2743200" cy="1280160"/>
          </a:xfrm>
          <a:prstGeom prst="rect">
            <a:avLst/>
          </a:prstGeom>
          <a:noFill/>
          <a:ln/>
        </p:spPr>
        <p:txBody>
          <a:bodyPr wrap="square" lIns="0" tIns="0" rIns="0" bIns="0" rtlCol="0" anchor="t"/>
          <a:lstStyle/>
          <a:p>
            <a:pPr marL="0" indent="0">
              <a:lnSpc>
                <a:spcPct val="120000"/>
              </a:lnSpc>
              <a:buNone/>
            </a:pPr>
            <a:endParaRPr lang="en-US" sz="1300" dirty="0"/>
          </a:p>
        </p:txBody>
      </p:sp>
      <p:sp>
        <p:nvSpPr>
          <p:cNvPr id="20" name="Text 15">
            <a:extLst>
              <a:ext uri="{FF2B5EF4-FFF2-40B4-BE49-F238E27FC236}">
                <a16:creationId xmlns:a16="http://schemas.microsoft.com/office/drawing/2014/main" id="{B32A6D8D-5C99-6496-E0DB-59FD1AA6768C}"/>
              </a:ext>
            </a:extLst>
          </p:cNvPr>
          <p:cNvSpPr txBox="1"/>
          <p:nvPr/>
        </p:nvSpPr>
        <p:spPr>
          <a:xfrm>
            <a:off x="11277295" y="6355080"/>
            <a:ext cx="548640" cy="274320"/>
          </a:xfrm>
          <a:prstGeom prst="rect">
            <a:avLst/>
          </a:prstGeom>
          <a:noFill/>
          <a:ln/>
        </p:spPr>
        <p:txBody>
          <a:bodyPr wrap="square" lIns="0" tIns="0" rIns="0" bIns="0" rtlCol="0" anchor="ctr"/>
          <a:lstStyle/>
          <a:p>
            <a:pPr marL="0" indent="0" algn="r">
              <a:buNone/>
            </a:pPr>
            <a:r>
              <a:rPr lang="en-US" sz="1000" dirty="0">
                <a:solidFill>
                  <a:srgbClr val="8B85AA"/>
                </a:solidFill>
                <a:latin typeface="Calibri" pitchFamily="34" charset="0"/>
                <a:ea typeface="Calibri" pitchFamily="34" charset="-122"/>
                <a:cs typeface="Calibri" pitchFamily="34" charset="-120"/>
              </a:rPr>
              <a:t>03</a:t>
            </a:r>
            <a:endParaRPr lang="en-US" sz="1000" dirty="0"/>
          </a:p>
        </p:txBody>
      </p:sp>
      <p:pic>
        <p:nvPicPr>
          <p:cNvPr id="22" name="Picture 21">
            <a:extLst>
              <a:ext uri="{FF2B5EF4-FFF2-40B4-BE49-F238E27FC236}">
                <a16:creationId xmlns:a16="http://schemas.microsoft.com/office/drawing/2014/main" id="{92142E07-0410-2AE0-820C-5628C320428E}"/>
              </a:ext>
            </a:extLst>
          </p:cNvPr>
          <p:cNvPicPr>
            <a:picLocks noChangeAspect="1"/>
          </p:cNvPicPr>
          <p:nvPr/>
        </p:nvPicPr>
        <p:blipFill>
          <a:blip r:embed="rId3"/>
          <a:stretch>
            <a:fillRect/>
          </a:stretch>
        </p:blipFill>
        <p:spPr>
          <a:xfrm>
            <a:off x="6156336" y="2045713"/>
            <a:ext cx="5120959" cy="3863853"/>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3817"/>
          <a:stretch/>
        </p:blipFill>
        <p:spPr>
          <a:xfrm>
            <a:off x="928256" y="4069214"/>
            <a:ext cx="4066308" cy="2788786"/>
          </a:xfrm>
          <a:prstGeom prst="rect">
            <a:avLst/>
          </a:prstGeom>
        </p:spPr>
      </p:pic>
      <p:sp>
        <p:nvSpPr>
          <p:cNvPr id="7" name="Rectangle 2"/>
          <p:cNvSpPr>
            <a:spLocks noChangeArrowheads="1"/>
          </p:cNvSpPr>
          <p:nvPr/>
        </p:nvSpPr>
        <p:spPr bwMode="auto">
          <a:xfrm>
            <a:off x="104220" y="1722418"/>
            <a:ext cx="6545236" cy="25237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rgbClr val="0F1115"/>
                </a:solidFill>
                <a:effectLst/>
                <a:latin typeface="quote-cjk-patch"/>
              </a:rPr>
              <a:t>We built a Mixed-Integer Linear Program (MILP) to </a:t>
            </a:r>
            <a:r>
              <a:rPr kumimoji="0" lang="en-US" altLang="en-US" i="0" u="none" strike="noStrike" cap="none" normalizeH="0" baseline="0" dirty="0" err="1">
                <a:ln>
                  <a:noFill/>
                </a:ln>
                <a:solidFill>
                  <a:srgbClr val="0F1115"/>
                </a:solidFill>
                <a:effectLst/>
                <a:latin typeface="quote-cjk-patch"/>
              </a:rPr>
              <a:t>minimise</a:t>
            </a:r>
            <a:r>
              <a:rPr kumimoji="0" lang="en-US" altLang="en-US" i="0" u="none" strike="noStrike" cap="none" normalizeH="0" baseline="0" dirty="0">
                <a:ln>
                  <a:noFill/>
                </a:ln>
                <a:solidFill>
                  <a:srgbClr val="0F1115"/>
                </a:solidFill>
                <a:effectLst/>
                <a:latin typeface="quote-cjk-patch"/>
              </a:rPr>
              <a:t> transport cost:</a:t>
            </a:r>
            <a:br>
              <a:rPr kumimoji="0" lang="en-US" altLang="en-US" i="0" u="none" strike="noStrike" cap="none" normalizeH="0" baseline="0" dirty="0">
                <a:ln>
                  <a:noFill/>
                </a:ln>
                <a:solidFill>
                  <a:srgbClr val="0F1115"/>
                </a:solidFill>
                <a:effectLst/>
                <a:latin typeface="quote-cjk-patch"/>
              </a:rPr>
            </a:br>
            <a:r>
              <a:rPr kumimoji="0" lang="en-US" altLang="en-US" i="0" u="none" strike="noStrike" cap="none" normalizeH="0" baseline="0" dirty="0">
                <a:ln>
                  <a:noFill/>
                </a:ln>
                <a:solidFill>
                  <a:srgbClr val="0F1115"/>
                </a:solidFill>
                <a:effectLst/>
                <a:latin typeface="quote-cjk-patch"/>
              </a:rPr>
              <a:t>Min 16 × Σ (load × distance).</a:t>
            </a:r>
          </a:p>
          <a:p>
            <a:pPr marR="0" lvl="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rgbClr val="0F1115"/>
                </a:solidFill>
                <a:effectLst/>
                <a:latin typeface="quote-cjk-patch"/>
              </a:rPr>
              <a:t>Key decisions: route selection (</a:t>
            </a:r>
            <a:r>
              <a:rPr kumimoji="0" lang="en-US" altLang="en-US" i="0" u="none" strike="noStrike" cap="none" normalizeH="0" baseline="0" dirty="0">
                <a:ln>
                  <a:noFill/>
                </a:ln>
                <a:solidFill>
                  <a:srgbClr val="0F1115"/>
                </a:solidFill>
                <a:effectLst/>
                <a:latin typeface="Menlo"/>
              </a:rPr>
              <a:t>x</a:t>
            </a:r>
            <a:r>
              <a:rPr kumimoji="0" lang="en-US" altLang="en-US" i="0" u="none" strike="noStrike" cap="none" normalizeH="0" baseline="0" dirty="0">
                <a:ln>
                  <a:noFill/>
                </a:ln>
                <a:solidFill>
                  <a:srgbClr val="0F1115"/>
                </a:solidFill>
                <a:effectLst/>
                <a:latin typeface="quote-cjk-patch"/>
              </a:rPr>
              <a:t>), delivery quantities (</a:t>
            </a:r>
            <a:r>
              <a:rPr kumimoji="0" lang="en-US" altLang="en-US" i="0" u="none" strike="noStrike" cap="none" normalizeH="0" baseline="0" dirty="0">
                <a:ln>
                  <a:noFill/>
                </a:ln>
                <a:solidFill>
                  <a:srgbClr val="0F1115"/>
                </a:solidFill>
                <a:effectLst/>
                <a:latin typeface="Menlo"/>
              </a:rPr>
              <a:t>q</a:t>
            </a:r>
            <a:r>
              <a:rPr kumimoji="0" lang="en-US" altLang="en-US" i="0" u="none" strike="noStrike" cap="none" normalizeH="0" baseline="0" dirty="0">
                <a:ln>
                  <a:noFill/>
                </a:ln>
                <a:solidFill>
                  <a:srgbClr val="0F1115"/>
                </a:solidFill>
                <a:effectLst/>
                <a:latin typeface="quote-cjk-patch"/>
              </a:rPr>
              <a:t>), and arc loads (</a:t>
            </a:r>
            <a:r>
              <a:rPr kumimoji="0" lang="en-US" altLang="en-US" i="0" u="none" strike="noStrike" cap="none" normalizeH="0" baseline="0" dirty="0">
                <a:ln>
                  <a:noFill/>
                </a:ln>
                <a:solidFill>
                  <a:srgbClr val="0F1115"/>
                </a:solidFill>
                <a:effectLst/>
                <a:latin typeface="Menlo"/>
              </a:rPr>
              <a:t>l</a:t>
            </a:r>
            <a:r>
              <a:rPr kumimoji="0" lang="en-US" altLang="en-US" i="0" u="none" strike="noStrike" cap="none" normalizeH="0" baseline="0" dirty="0">
                <a:ln>
                  <a:noFill/>
                </a:ln>
                <a:solidFill>
                  <a:srgbClr val="0F1115"/>
                </a:solidFill>
                <a:effectLst/>
                <a:latin typeface="quote-cjk-patch"/>
              </a:rPr>
              <a:t>).</a:t>
            </a:r>
            <a:br>
              <a:rPr kumimoji="0" lang="en-US" altLang="en-US" i="0" u="none" strike="noStrike" cap="none" normalizeH="0" baseline="0" dirty="0">
                <a:ln>
                  <a:noFill/>
                </a:ln>
                <a:solidFill>
                  <a:srgbClr val="0F1115"/>
                </a:solidFill>
                <a:effectLst/>
                <a:latin typeface="quote-cjk-patch"/>
              </a:rPr>
            </a:br>
            <a:r>
              <a:rPr kumimoji="0" lang="en-US" altLang="en-US" i="0" u="none" strike="noStrike" cap="none" normalizeH="0" baseline="0" dirty="0">
                <a:ln>
                  <a:noFill/>
                </a:ln>
                <a:solidFill>
                  <a:srgbClr val="0F1115"/>
                </a:solidFill>
                <a:effectLst/>
                <a:latin typeface="quote-cjk-patch"/>
              </a:rPr>
              <a:t>We enforced capacity (10 t/ truck), 100% demand satisfaction, ≤8-hour routes, and </a:t>
            </a:r>
            <a:r>
              <a:rPr kumimoji="0" lang="en-US" altLang="en-US" i="0" u="none" strike="noStrike" cap="none" normalizeH="0" baseline="0" dirty="0" err="1">
                <a:ln>
                  <a:noFill/>
                </a:ln>
                <a:solidFill>
                  <a:srgbClr val="0F1115"/>
                </a:solidFill>
                <a:effectLst/>
                <a:latin typeface="quote-cjk-patch"/>
              </a:rPr>
              <a:t>subtour</a:t>
            </a:r>
            <a:r>
              <a:rPr kumimoji="0" lang="en-US" altLang="en-US" i="0" u="none" strike="noStrike" cap="none" normalizeH="0" baseline="0" dirty="0">
                <a:ln>
                  <a:noFill/>
                </a:ln>
                <a:solidFill>
                  <a:srgbClr val="0F1115"/>
                </a:solidFill>
                <a:effectLst/>
                <a:latin typeface="quote-cjk-patch"/>
              </a:rPr>
              <a:t> elimination to guarantee feasible plans.</a:t>
            </a:r>
          </a:p>
          <a:p>
            <a:pPr marR="0" lvl="0" algn="l" defTabSz="914400" rtl="0" eaLnBrk="0" fontAlgn="base" latinLnBrk="0" hangingPunct="0">
              <a:lnSpc>
                <a:spcPct val="100000"/>
              </a:lnSpc>
              <a:spcBef>
                <a:spcPct val="0"/>
              </a:spcBef>
              <a:spcAft>
                <a:spcPct val="0"/>
              </a:spcAft>
              <a:buClrTx/>
              <a:buSzTx/>
              <a:tabLst/>
            </a:pPr>
            <a:endParaRPr kumimoji="0" lang="en-US" altLang="en-US" sz="70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endParaRPr kumimoji="0" lang="en-US" altLang="en-US" sz="7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4080948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4D3A"/>
          </a:solidFill>
          <a:ln w="12700">
            <a:solidFill>
              <a:srgbClr val="0E4D3A"/>
            </a:solidFill>
            <a:prstDash val="solid"/>
          </a:ln>
        </p:spPr>
      </p:sp>
      <p:sp>
        <p:nvSpPr>
          <p:cNvPr id="3" name="Text 1"/>
          <p:cNvSpPr/>
          <p:nvPr/>
        </p:nvSpPr>
        <p:spPr>
          <a:xfrm>
            <a:off x="502920" y="347472"/>
            <a:ext cx="2194560" cy="228600"/>
          </a:xfrm>
          <a:prstGeom prst="rect">
            <a:avLst/>
          </a:prstGeom>
          <a:noFill/>
          <a:ln/>
        </p:spPr>
        <p:txBody>
          <a:bodyPr wrap="square" rtlCol="0" anchor="ctr"/>
          <a:lstStyle/>
          <a:p>
            <a:pPr marL="0" indent="0">
              <a:buNone/>
            </a:pPr>
            <a:r>
              <a:rPr lang="en-US" sz="1000" b="1" dirty="0">
                <a:solidFill>
                  <a:srgbClr val="7A4A24"/>
                </a:solidFill>
                <a:latin typeface="Aptos" pitchFamily="34" charset="0"/>
                <a:ea typeface="Aptos" pitchFamily="34" charset="-122"/>
                <a:cs typeface="Aptos" pitchFamily="34" charset="-120"/>
              </a:rPr>
              <a:t>QUANTUM PART</a:t>
            </a:r>
            <a:endParaRPr lang="en-US" sz="1000" dirty="0"/>
          </a:p>
        </p:txBody>
      </p:sp>
      <p:sp>
        <p:nvSpPr>
          <p:cNvPr id="4" name="Text 2"/>
          <p:cNvSpPr/>
          <p:nvPr/>
        </p:nvSpPr>
        <p:spPr>
          <a:xfrm>
            <a:off x="502920" y="621792"/>
            <a:ext cx="6583680" cy="502920"/>
          </a:xfrm>
          <a:prstGeom prst="rect">
            <a:avLst/>
          </a:prstGeom>
          <a:noFill/>
          <a:ln/>
        </p:spPr>
        <p:txBody>
          <a:bodyPr wrap="square" lIns="0" tIns="0" rIns="0" bIns="0" rtlCol="0" anchor="ctr"/>
          <a:lstStyle/>
          <a:p>
            <a:pPr marL="0" indent="0">
              <a:buNone/>
            </a:pPr>
            <a:r>
              <a:rPr lang="en-US" sz="3100" b="1" dirty="0">
                <a:solidFill>
                  <a:srgbClr val="0E4D3A"/>
                </a:solidFill>
                <a:latin typeface="Aptos Display" pitchFamily="34" charset="0"/>
                <a:ea typeface="Aptos Display" pitchFamily="34" charset="-122"/>
                <a:cs typeface="Aptos Display" pitchFamily="34" charset="-120"/>
              </a:rPr>
              <a:t>Searching smarter route options</a:t>
            </a:r>
            <a:endParaRPr lang="en-US" sz="3100" dirty="0"/>
          </a:p>
        </p:txBody>
      </p:sp>
      <p:sp>
        <p:nvSpPr>
          <p:cNvPr id="5" name="Text 3"/>
          <p:cNvSpPr/>
          <p:nvPr/>
        </p:nvSpPr>
        <p:spPr>
          <a:xfrm>
            <a:off x="530352" y="1143000"/>
            <a:ext cx="6675120" cy="292608"/>
          </a:xfrm>
          <a:prstGeom prst="rect">
            <a:avLst/>
          </a:prstGeom>
          <a:noFill/>
          <a:ln/>
        </p:spPr>
        <p:txBody>
          <a:bodyPr wrap="square" lIns="0" tIns="0" rIns="0" bIns="0" rtlCol="0" anchor="ctr"/>
          <a:lstStyle/>
          <a:p>
            <a:pPr marL="0" indent="0">
              <a:buNone/>
            </a:pPr>
            <a:r>
              <a:rPr lang="en-US" sz="1350" dirty="0">
                <a:solidFill>
                  <a:srgbClr val="5F6B6E"/>
                </a:solidFill>
                <a:latin typeface="Aptos" pitchFamily="34" charset="0"/>
                <a:ea typeface="Aptos" pitchFamily="34" charset="-122"/>
                <a:cs typeface="Aptos" pitchFamily="34" charset="-120"/>
              </a:rPr>
              <a:t>Simple idea: score each route, then use QAOA to search for lower-cost choices.</a:t>
            </a:r>
            <a:endParaRPr lang="en-US" sz="1350" dirty="0"/>
          </a:p>
        </p:txBody>
      </p:sp>
      <p:sp>
        <p:nvSpPr>
          <p:cNvPr id="6" name="Shape 4"/>
          <p:cNvSpPr/>
          <p:nvPr/>
        </p:nvSpPr>
        <p:spPr>
          <a:xfrm>
            <a:off x="594360" y="1691640"/>
            <a:ext cx="3794760" cy="3108960"/>
          </a:xfrm>
          <a:prstGeom prst="roundRect">
            <a:avLst>
              <a:gd name="adj" fmla="val 5294"/>
            </a:avLst>
          </a:prstGeom>
          <a:solidFill>
            <a:srgbClr val="FFFFFF"/>
          </a:solidFill>
          <a:ln w="12700">
            <a:solidFill>
              <a:srgbClr val="E4DDD0"/>
            </a:solidFill>
            <a:prstDash val="solid"/>
          </a:ln>
          <a:effectLst>
            <a:outerShdw blurRad="12700" dist="50800" dir="2700000" algn="bl" rotWithShape="0">
              <a:srgbClr val="BFB7A5">
                <a:alpha val="22000"/>
              </a:srgbClr>
            </a:outerShdw>
          </a:effectLst>
        </p:spPr>
      </p:sp>
      <p:sp>
        <p:nvSpPr>
          <p:cNvPr id="7" name="Text 5"/>
          <p:cNvSpPr/>
          <p:nvPr/>
        </p:nvSpPr>
        <p:spPr>
          <a:xfrm>
            <a:off x="932688" y="1965960"/>
            <a:ext cx="3108960" cy="320040"/>
          </a:xfrm>
          <a:prstGeom prst="rect">
            <a:avLst/>
          </a:prstGeom>
          <a:noFill/>
          <a:ln/>
        </p:spPr>
        <p:txBody>
          <a:bodyPr wrap="square" lIns="0" tIns="0" rIns="0" bIns="0" rtlCol="0" anchor="ctr"/>
          <a:lstStyle/>
          <a:p>
            <a:pPr marL="0" indent="0" algn="ctr">
              <a:buNone/>
            </a:pPr>
            <a:r>
              <a:rPr lang="en-US" sz="1500" b="1" dirty="0">
                <a:solidFill>
                  <a:srgbClr val="0E4D3A"/>
                </a:solidFill>
                <a:latin typeface="Aptos" pitchFamily="34" charset="0"/>
                <a:ea typeface="Aptos" pitchFamily="34" charset="-122"/>
                <a:cs typeface="Aptos" pitchFamily="34" charset="-120"/>
              </a:rPr>
              <a:t>Route choices grow fast</a:t>
            </a:r>
            <a:endParaRPr lang="en-US" sz="1500" dirty="0"/>
          </a:p>
        </p:txBody>
      </p:sp>
      <p:sp>
        <p:nvSpPr>
          <p:cNvPr id="8" name="Text 6"/>
          <p:cNvSpPr/>
          <p:nvPr/>
        </p:nvSpPr>
        <p:spPr>
          <a:xfrm>
            <a:off x="868680" y="2423160"/>
            <a:ext cx="1005840" cy="658368"/>
          </a:xfrm>
          <a:prstGeom prst="rect">
            <a:avLst/>
          </a:prstGeom>
          <a:noFill/>
          <a:ln/>
        </p:spPr>
        <p:txBody>
          <a:bodyPr wrap="square" lIns="0" tIns="0" rIns="0" bIns="0" rtlCol="0" anchor="ctr"/>
          <a:lstStyle/>
          <a:p>
            <a:pPr marL="0" indent="0" algn="ctr">
              <a:buNone/>
            </a:pPr>
            <a:r>
              <a:rPr lang="en-US" sz="3800" b="1" dirty="0">
                <a:solidFill>
                  <a:srgbClr val="7A4A24"/>
                </a:solidFill>
                <a:latin typeface="Aptos Display" pitchFamily="34" charset="0"/>
                <a:ea typeface="Aptos Display" pitchFamily="34" charset="-122"/>
                <a:cs typeface="Aptos Display" pitchFamily="34" charset="-120"/>
              </a:rPr>
              <a:t>2</a:t>
            </a:r>
            <a:endParaRPr lang="en-US" sz="3800" dirty="0"/>
          </a:p>
        </p:txBody>
      </p:sp>
      <p:sp>
        <p:nvSpPr>
          <p:cNvPr id="9" name="Text 7"/>
          <p:cNvSpPr/>
          <p:nvPr/>
        </p:nvSpPr>
        <p:spPr>
          <a:xfrm>
            <a:off x="1828800" y="2487168"/>
            <a:ext cx="2057400" cy="502920"/>
          </a:xfrm>
          <a:prstGeom prst="rect">
            <a:avLst/>
          </a:prstGeom>
          <a:noFill/>
          <a:ln/>
        </p:spPr>
        <p:txBody>
          <a:bodyPr wrap="square" lIns="381" tIns="381" rIns="381" bIns="381" rtlCol="0" anchor="ctr"/>
          <a:lstStyle/>
          <a:p>
            <a:pPr marL="0" indent="0">
              <a:buNone/>
            </a:pPr>
            <a:r>
              <a:rPr lang="en-US" sz="1400" dirty="0">
                <a:solidFill>
                  <a:srgbClr val="1F2A2E"/>
                </a:solidFill>
                <a:latin typeface="Aptos" pitchFamily="34" charset="0"/>
                <a:ea typeface="Aptos" pitchFamily="34" charset="-122"/>
                <a:cs typeface="Aptos" pitchFamily="34" charset="-120"/>
              </a:rPr>
              <a:t>routes</a:t>
            </a:r>
            <a:endParaRPr lang="en-US" sz="1400" dirty="0"/>
          </a:p>
          <a:p>
            <a:pPr marL="0" indent="0">
              <a:buNone/>
            </a:pPr>
            <a:r>
              <a:rPr lang="en-US" sz="1400" dirty="0">
                <a:solidFill>
                  <a:srgbClr val="1F2A2E"/>
                </a:solidFill>
                <a:latin typeface="Aptos" pitchFamily="34" charset="0"/>
                <a:ea typeface="Aptos" pitchFamily="34" charset="-122"/>
                <a:cs typeface="Aptos" pitchFamily="34" charset="-120"/>
              </a:rPr>
              <a:t>with 2 factories</a:t>
            </a:r>
            <a:endParaRPr lang="en-US" sz="1400" dirty="0"/>
          </a:p>
        </p:txBody>
      </p:sp>
      <p:sp>
        <p:nvSpPr>
          <p:cNvPr id="10" name="Shape 8"/>
          <p:cNvSpPr/>
          <p:nvPr/>
        </p:nvSpPr>
        <p:spPr>
          <a:xfrm>
            <a:off x="1051560" y="3337560"/>
            <a:ext cx="2834640" cy="0"/>
          </a:xfrm>
          <a:prstGeom prst="line">
            <a:avLst/>
          </a:prstGeom>
          <a:noFill/>
          <a:ln w="16510">
            <a:solidFill>
              <a:srgbClr val="E1D8C8"/>
            </a:solidFill>
            <a:prstDash val="solid"/>
          </a:ln>
        </p:spPr>
      </p:sp>
      <p:sp>
        <p:nvSpPr>
          <p:cNvPr id="11" name="Text 9"/>
          <p:cNvSpPr/>
          <p:nvPr/>
        </p:nvSpPr>
        <p:spPr>
          <a:xfrm>
            <a:off x="777240" y="3584448"/>
            <a:ext cx="3429000" cy="713232"/>
          </a:xfrm>
          <a:prstGeom prst="rect">
            <a:avLst/>
          </a:prstGeom>
          <a:noFill/>
          <a:ln/>
        </p:spPr>
        <p:txBody>
          <a:bodyPr wrap="square" lIns="0" tIns="0" rIns="0" bIns="0" rtlCol="0" anchor="ctr"/>
          <a:lstStyle/>
          <a:p>
            <a:pPr marL="0" indent="0" algn="ctr">
              <a:buNone/>
            </a:pPr>
            <a:r>
              <a:rPr lang="en-US" sz="4200" b="1" dirty="0">
                <a:solidFill>
                  <a:srgbClr val="0E4D3A"/>
                </a:solidFill>
                <a:latin typeface="Aptos Display" pitchFamily="34" charset="0"/>
                <a:ea typeface="Aptos Display" pitchFamily="34" charset="-122"/>
                <a:cs typeface="Aptos Display" pitchFamily="34" charset="-120"/>
              </a:rPr>
              <a:t>5,040</a:t>
            </a:r>
            <a:endParaRPr lang="en-US" sz="4200" dirty="0"/>
          </a:p>
        </p:txBody>
      </p:sp>
      <p:sp>
        <p:nvSpPr>
          <p:cNvPr id="12" name="Text 10"/>
          <p:cNvSpPr/>
          <p:nvPr/>
        </p:nvSpPr>
        <p:spPr>
          <a:xfrm>
            <a:off x="960120" y="4315968"/>
            <a:ext cx="3063240" cy="320040"/>
          </a:xfrm>
          <a:prstGeom prst="rect">
            <a:avLst/>
          </a:prstGeom>
          <a:noFill/>
          <a:ln/>
        </p:spPr>
        <p:txBody>
          <a:bodyPr wrap="square" lIns="0" tIns="0" rIns="0" bIns="0" rtlCol="0" anchor="ctr"/>
          <a:lstStyle/>
          <a:p>
            <a:pPr marL="0" indent="0" algn="ctr">
              <a:buNone/>
            </a:pPr>
            <a:r>
              <a:rPr lang="en-US" sz="1250" dirty="0">
                <a:solidFill>
                  <a:srgbClr val="5F6B6E"/>
                </a:solidFill>
                <a:latin typeface="Aptos" pitchFamily="34" charset="0"/>
                <a:ea typeface="Aptos" pitchFamily="34" charset="-122"/>
                <a:cs typeface="Aptos" pitchFamily="34" charset="-120"/>
              </a:rPr>
              <a:t>possible route orders with 7 factories</a:t>
            </a:r>
            <a:endParaRPr lang="en-US" sz="1250" dirty="0"/>
          </a:p>
        </p:txBody>
      </p:sp>
      <p:sp>
        <p:nvSpPr>
          <p:cNvPr id="13" name="Shape 11"/>
          <p:cNvSpPr/>
          <p:nvPr/>
        </p:nvSpPr>
        <p:spPr>
          <a:xfrm>
            <a:off x="4800600" y="1737360"/>
            <a:ext cx="1874520" cy="2057400"/>
          </a:xfrm>
          <a:prstGeom prst="roundRect">
            <a:avLst>
              <a:gd name="adj" fmla="val 8780"/>
            </a:avLst>
          </a:prstGeom>
          <a:solidFill>
            <a:srgbClr val="FFFFFF"/>
          </a:solidFill>
          <a:ln w="12700">
            <a:solidFill>
              <a:srgbClr val="E4DDD0"/>
            </a:solidFill>
            <a:prstDash val="solid"/>
          </a:ln>
          <a:effectLst>
            <a:outerShdw blurRad="12700" dist="50800" dir="2700000" algn="bl" rotWithShape="0">
              <a:srgbClr val="BFB7A5">
                <a:alpha val="18000"/>
              </a:srgbClr>
            </a:outerShdw>
          </a:effectLst>
        </p:spPr>
      </p:sp>
      <p:sp>
        <p:nvSpPr>
          <p:cNvPr id="14" name="Shape 12"/>
          <p:cNvSpPr/>
          <p:nvPr/>
        </p:nvSpPr>
        <p:spPr>
          <a:xfrm>
            <a:off x="5449824" y="1938528"/>
            <a:ext cx="566928" cy="566928"/>
          </a:xfrm>
          <a:prstGeom prst="ellipse">
            <a:avLst/>
          </a:prstGeom>
          <a:solidFill>
            <a:srgbClr val="DDEFE6"/>
          </a:solidFill>
          <a:ln w="15240">
            <a:solidFill>
              <a:srgbClr val="0E4D3A"/>
            </a:solidFill>
            <a:prstDash val="solid"/>
          </a:ln>
        </p:spPr>
      </p:sp>
      <p:sp>
        <p:nvSpPr>
          <p:cNvPr id="15" name="Text 13"/>
          <p:cNvSpPr/>
          <p:nvPr/>
        </p:nvSpPr>
        <p:spPr>
          <a:xfrm>
            <a:off x="5458968" y="1993392"/>
            <a:ext cx="548640" cy="3200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6" name="Text 14"/>
          <p:cNvSpPr/>
          <p:nvPr/>
        </p:nvSpPr>
        <p:spPr>
          <a:xfrm>
            <a:off x="4965192" y="2651760"/>
            <a:ext cx="1545336" cy="256032"/>
          </a:xfrm>
          <a:prstGeom prst="rect">
            <a:avLst/>
          </a:prstGeom>
          <a:noFill/>
          <a:ln/>
        </p:spPr>
        <p:txBody>
          <a:bodyPr wrap="square" lIns="0" tIns="0" rIns="0" bIns="0" rtlCol="0" anchor="ctr"/>
          <a:lstStyle/>
          <a:p>
            <a:pPr marL="0" indent="0" algn="ctr">
              <a:buNone/>
            </a:pPr>
            <a:r>
              <a:rPr lang="en-US" sz="1300" b="1" dirty="0">
                <a:solidFill>
                  <a:srgbClr val="0E4D3A"/>
                </a:solidFill>
                <a:latin typeface="Aptos" pitchFamily="34" charset="0"/>
                <a:ea typeface="Aptos" pitchFamily="34" charset="-122"/>
                <a:cs typeface="Aptos" pitchFamily="34" charset="-120"/>
              </a:rPr>
              <a:t>1  Prepare data</a:t>
            </a:r>
            <a:endParaRPr lang="en-US" sz="1300" dirty="0"/>
          </a:p>
        </p:txBody>
      </p:sp>
      <p:sp>
        <p:nvSpPr>
          <p:cNvPr id="17" name="Text 15"/>
          <p:cNvSpPr/>
          <p:nvPr/>
        </p:nvSpPr>
        <p:spPr>
          <a:xfrm>
            <a:off x="4965192" y="2999232"/>
            <a:ext cx="1545336" cy="502920"/>
          </a:xfrm>
          <a:prstGeom prst="rect">
            <a:avLst/>
          </a:prstGeom>
          <a:noFill/>
          <a:ln/>
        </p:spPr>
        <p:txBody>
          <a:bodyPr wrap="square" lIns="254" tIns="254" rIns="254" bIns="254" rtlCol="0" anchor="ctr">
            <a:normAutofit lnSpcReduction="10000"/>
          </a:bodyPr>
          <a:lstStyle/>
          <a:p>
            <a:pPr marL="0" indent="0" algn="ctr">
              <a:buNone/>
            </a:pPr>
            <a:r>
              <a:rPr lang="en-US" sz="1150" dirty="0">
                <a:solidFill>
                  <a:srgbClr val="5F6B6E"/>
                </a:solidFill>
                <a:latin typeface="Aptos" pitchFamily="34" charset="0"/>
                <a:ea typeface="Aptos" pitchFamily="34" charset="-122"/>
                <a:cs typeface="Aptos" pitchFamily="34" charset="-120"/>
              </a:rPr>
              <a:t>factory demand</a:t>
            </a:r>
            <a:endParaRPr lang="en-US" sz="1150" dirty="0"/>
          </a:p>
          <a:p>
            <a:pPr marL="0" indent="0" algn="ctr">
              <a:buNone/>
            </a:pPr>
            <a:r>
              <a:rPr lang="en-US" sz="1150" dirty="0">
                <a:solidFill>
                  <a:srgbClr val="5F6B6E"/>
                </a:solidFill>
                <a:latin typeface="Aptos" pitchFamily="34" charset="0"/>
                <a:ea typeface="Aptos" pitchFamily="34" charset="-122"/>
                <a:cs typeface="Aptos" pitchFamily="34" charset="-120"/>
              </a:rPr>
              <a:t>road distance</a:t>
            </a:r>
            <a:endParaRPr lang="en-US" sz="1150" dirty="0"/>
          </a:p>
          <a:p>
            <a:pPr marL="0" indent="0" algn="ctr">
              <a:buNone/>
            </a:pPr>
            <a:r>
              <a:rPr lang="en-US" sz="1150" dirty="0">
                <a:solidFill>
                  <a:srgbClr val="5F6B6E"/>
                </a:solidFill>
                <a:latin typeface="Aptos" pitchFamily="34" charset="0"/>
                <a:ea typeface="Aptos" pitchFamily="34" charset="-122"/>
                <a:cs typeface="Aptos" pitchFamily="34" charset="-120"/>
              </a:rPr>
              <a:t>travel time</a:t>
            </a:r>
            <a:endParaRPr lang="en-US" sz="1150" dirty="0"/>
          </a:p>
        </p:txBody>
      </p:sp>
      <p:sp>
        <p:nvSpPr>
          <p:cNvPr id="18" name="Shape 16"/>
          <p:cNvSpPr/>
          <p:nvPr/>
        </p:nvSpPr>
        <p:spPr>
          <a:xfrm>
            <a:off x="6976872" y="1737360"/>
            <a:ext cx="1874520" cy="2057400"/>
          </a:xfrm>
          <a:prstGeom prst="roundRect">
            <a:avLst>
              <a:gd name="adj" fmla="val 8780"/>
            </a:avLst>
          </a:prstGeom>
          <a:solidFill>
            <a:srgbClr val="FFFFFF"/>
          </a:solidFill>
          <a:ln w="12700">
            <a:solidFill>
              <a:srgbClr val="E4DDD0"/>
            </a:solidFill>
            <a:prstDash val="solid"/>
          </a:ln>
          <a:effectLst>
            <a:outerShdw blurRad="12700" dist="50800" dir="2700000" algn="bl" rotWithShape="0">
              <a:srgbClr val="BFB7A5">
                <a:alpha val="18000"/>
              </a:srgbClr>
            </a:outerShdw>
          </a:effectLst>
        </p:spPr>
      </p:sp>
      <p:sp>
        <p:nvSpPr>
          <p:cNvPr id="19" name="Shape 17"/>
          <p:cNvSpPr/>
          <p:nvPr/>
        </p:nvSpPr>
        <p:spPr>
          <a:xfrm>
            <a:off x="7626096" y="1938528"/>
            <a:ext cx="566928" cy="566928"/>
          </a:xfrm>
          <a:prstGeom prst="ellipse">
            <a:avLst/>
          </a:prstGeom>
          <a:solidFill>
            <a:srgbClr val="DDEFE6"/>
          </a:solidFill>
          <a:ln w="15240">
            <a:solidFill>
              <a:srgbClr val="0E4D3A"/>
            </a:solidFill>
            <a:prstDash val="solid"/>
          </a:ln>
        </p:spPr>
      </p:sp>
      <p:sp>
        <p:nvSpPr>
          <p:cNvPr id="20" name="Text 18"/>
          <p:cNvSpPr/>
          <p:nvPr/>
        </p:nvSpPr>
        <p:spPr>
          <a:xfrm>
            <a:off x="7635240" y="1993392"/>
            <a:ext cx="548640" cy="3200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7141464" y="2651760"/>
            <a:ext cx="1545336" cy="256032"/>
          </a:xfrm>
          <a:prstGeom prst="rect">
            <a:avLst/>
          </a:prstGeom>
          <a:noFill/>
          <a:ln/>
        </p:spPr>
        <p:txBody>
          <a:bodyPr wrap="square" lIns="0" tIns="0" rIns="0" bIns="0" rtlCol="0" anchor="ctr"/>
          <a:lstStyle/>
          <a:p>
            <a:pPr marL="0" indent="0" algn="ctr">
              <a:buNone/>
            </a:pPr>
            <a:r>
              <a:rPr lang="en-US" sz="1300" b="1" dirty="0">
                <a:solidFill>
                  <a:srgbClr val="0E4D3A"/>
                </a:solidFill>
                <a:latin typeface="Aptos" pitchFamily="34" charset="0"/>
                <a:ea typeface="Aptos" pitchFamily="34" charset="-122"/>
                <a:cs typeface="Aptos" pitchFamily="34" charset="-120"/>
              </a:rPr>
              <a:t>2  CUBO model</a:t>
            </a:r>
            <a:endParaRPr lang="en-US" sz="1300" dirty="0"/>
          </a:p>
        </p:txBody>
      </p:sp>
      <p:sp>
        <p:nvSpPr>
          <p:cNvPr id="22" name="Text 20"/>
          <p:cNvSpPr/>
          <p:nvPr/>
        </p:nvSpPr>
        <p:spPr>
          <a:xfrm>
            <a:off x="7141464" y="2999232"/>
            <a:ext cx="1545336" cy="502920"/>
          </a:xfrm>
          <a:prstGeom prst="rect">
            <a:avLst/>
          </a:prstGeom>
          <a:noFill/>
          <a:ln/>
        </p:spPr>
        <p:txBody>
          <a:bodyPr wrap="square" lIns="254" tIns="254" rIns="254" bIns="254" rtlCol="0" anchor="ctr">
            <a:normAutofit/>
          </a:bodyPr>
          <a:lstStyle/>
          <a:p>
            <a:pPr marL="0" indent="0" algn="ctr">
              <a:buNone/>
            </a:pPr>
            <a:r>
              <a:rPr lang="en-US" sz="1150" dirty="0">
                <a:solidFill>
                  <a:srgbClr val="5F6B6E"/>
                </a:solidFill>
                <a:latin typeface="Aptos" pitchFamily="34" charset="0"/>
                <a:ea typeface="Aptos" pitchFamily="34" charset="-122"/>
                <a:cs typeface="Aptos" pitchFamily="34" charset="-120"/>
              </a:rPr>
              <a:t>gives each route</a:t>
            </a:r>
            <a:endParaRPr lang="en-US" sz="1150" dirty="0"/>
          </a:p>
          <a:p>
            <a:pPr marL="0" indent="0" algn="ctr">
              <a:buNone/>
            </a:pPr>
            <a:r>
              <a:rPr lang="en-US" sz="1150" dirty="0">
                <a:solidFill>
                  <a:srgbClr val="5F6B6E"/>
                </a:solidFill>
                <a:latin typeface="Aptos" pitchFamily="34" charset="0"/>
                <a:ea typeface="Aptos" pitchFamily="34" charset="-122"/>
                <a:cs typeface="Aptos" pitchFamily="34" charset="-120"/>
              </a:rPr>
              <a:t>a cost score</a:t>
            </a:r>
            <a:endParaRPr lang="en-US" sz="1150" dirty="0"/>
          </a:p>
        </p:txBody>
      </p:sp>
      <p:sp>
        <p:nvSpPr>
          <p:cNvPr id="23" name="Shape 21"/>
          <p:cNvSpPr/>
          <p:nvPr/>
        </p:nvSpPr>
        <p:spPr>
          <a:xfrm>
            <a:off x="9153144" y="1737360"/>
            <a:ext cx="1874520" cy="2057400"/>
          </a:xfrm>
          <a:prstGeom prst="roundRect">
            <a:avLst>
              <a:gd name="adj" fmla="val 8780"/>
            </a:avLst>
          </a:prstGeom>
          <a:solidFill>
            <a:srgbClr val="FFFFFF"/>
          </a:solidFill>
          <a:ln w="12700">
            <a:solidFill>
              <a:srgbClr val="E4DDD0"/>
            </a:solidFill>
            <a:prstDash val="solid"/>
          </a:ln>
          <a:effectLst>
            <a:outerShdw blurRad="12700" dist="50800" dir="2700000" algn="bl" rotWithShape="0">
              <a:srgbClr val="BFB7A5">
                <a:alpha val="18000"/>
              </a:srgbClr>
            </a:outerShdw>
          </a:effectLst>
        </p:spPr>
      </p:sp>
      <p:sp>
        <p:nvSpPr>
          <p:cNvPr id="24" name="Shape 22"/>
          <p:cNvSpPr/>
          <p:nvPr/>
        </p:nvSpPr>
        <p:spPr>
          <a:xfrm>
            <a:off x="9802368" y="1938528"/>
            <a:ext cx="566928" cy="566928"/>
          </a:xfrm>
          <a:prstGeom prst="ellipse">
            <a:avLst/>
          </a:prstGeom>
          <a:solidFill>
            <a:srgbClr val="E4F8FB"/>
          </a:solidFill>
          <a:ln w="15240">
            <a:solidFill>
              <a:srgbClr val="34B3C8"/>
            </a:solidFill>
            <a:prstDash val="solid"/>
          </a:ln>
        </p:spPr>
      </p:sp>
      <p:sp>
        <p:nvSpPr>
          <p:cNvPr id="25" name="Text 23"/>
          <p:cNvSpPr/>
          <p:nvPr/>
        </p:nvSpPr>
        <p:spPr>
          <a:xfrm>
            <a:off x="9811512" y="1993392"/>
            <a:ext cx="548640" cy="32004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6" name="Text 24"/>
          <p:cNvSpPr/>
          <p:nvPr/>
        </p:nvSpPr>
        <p:spPr>
          <a:xfrm>
            <a:off x="9317736" y="2651760"/>
            <a:ext cx="1545336" cy="256032"/>
          </a:xfrm>
          <a:prstGeom prst="rect">
            <a:avLst/>
          </a:prstGeom>
          <a:noFill/>
          <a:ln/>
        </p:spPr>
        <p:txBody>
          <a:bodyPr wrap="square" lIns="0" tIns="0" rIns="0" bIns="0" rtlCol="0" anchor="ctr"/>
          <a:lstStyle/>
          <a:p>
            <a:pPr marL="0" indent="0" algn="ctr">
              <a:buNone/>
            </a:pPr>
            <a:r>
              <a:rPr lang="en-US" sz="1300" b="1" dirty="0">
                <a:solidFill>
                  <a:srgbClr val="0E4D3A"/>
                </a:solidFill>
                <a:latin typeface="Aptos" pitchFamily="34" charset="0"/>
                <a:ea typeface="Aptos" pitchFamily="34" charset="-122"/>
                <a:cs typeface="Aptos" pitchFamily="34" charset="-120"/>
              </a:rPr>
              <a:t>3  QAOA search</a:t>
            </a:r>
            <a:endParaRPr lang="en-US" sz="1300" dirty="0"/>
          </a:p>
        </p:txBody>
      </p:sp>
      <p:sp>
        <p:nvSpPr>
          <p:cNvPr id="27" name="Text 25"/>
          <p:cNvSpPr/>
          <p:nvPr/>
        </p:nvSpPr>
        <p:spPr>
          <a:xfrm>
            <a:off x="9317736" y="2999232"/>
            <a:ext cx="1545336" cy="502920"/>
          </a:xfrm>
          <a:prstGeom prst="rect">
            <a:avLst/>
          </a:prstGeom>
          <a:noFill/>
          <a:ln/>
        </p:spPr>
        <p:txBody>
          <a:bodyPr wrap="square" lIns="254" tIns="254" rIns="254" bIns="254" rtlCol="0" anchor="ctr">
            <a:normAutofit/>
          </a:bodyPr>
          <a:lstStyle/>
          <a:p>
            <a:pPr marL="0" indent="0" algn="ctr">
              <a:buNone/>
            </a:pPr>
            <a:r>
              <a:rPr lang="en-US" sz="1150" dirty="0">
                <a:solidFill>
                  <a:srgbClr val="5F6B6E"/>
                </a:solidFill>
                <a:latin typeface="Aptos" pitchFamily="34" charset="0"/>
                <a:ea typeface="Aptos" pitchFamily="34" charset="-122"/>
                <a:cs typeface="Aptos" pitchFamily="34" charset="-120"/>
              </a:rPr>
              <a:t>makes low-cost</a:t>
            </a:r>
            <a:endParaRPr lang="en-US" sz="1150" dirty="0"/>
          </a:p>
          <a:p>
            <a:pPr marL="0" indent="0" algn="ctr">
              <a:buNone/>
            </a:pPr>
            <a:r>
              <a:rPr lang="en-US" sz="1150" dirty="0">
                <a:solidFill>
                  <a:srgbClr val="5F6B6E"/>
                </a:solidFill>
                <a:latin typeface="Aptos" pitchFamily="34" charset="0"/>
                <a:ea typeface="Aptos" pitchFamily="34" charset="-122"/>
                <a:cs typeface="Aptos" pitchFamily="34" charset="-120"/>
              </a:rPr>
              <a:t>routes more likely</a:t>
            </a:r>
            <a:endParaRPr lang="en-US" sz="1150" dirty="0"/>
          </a:p>
        </p:txBody>
      </p:sp>
      <p:sp>
        <p:nvSpPr>
          <p:cNvPr id="28" name="Shape 26"/>
          <p:cNvSpPr/>
          <p:nvPr/>
        </p:nvSpPr>
        <p:spPr>
          <a:xfrm>
            <a:off x="6519672" y="2423160"/>
            <a:ext cx="320040" cy="365760"/>
          </a:xfrm>
          <a:prstGeom prst="chevron">
            <a:avLst/>
          </a:prstGeom>
          <a:solidFill>
            <a:srgbClr val="C99A5B"/>
          </a:solidFill>
          <a:ln w="12700">
            <a:solidFill>
              <a:srgbClr val="C99A5B"/>
            </a:solidFill>
            <a:prstDash val="solid"/>
          </a:ln>
        </p:spPr>
      </p:sp>
      <p:sp>
        <p:nvSpPr>
          <p:cNvPr id="29" name="Shape 27"/>
          <p:cNvSpPr/>
          <p:nvPr/>
        </p:nvSpPr>
        <p:spPr>
          <a:xfrm>
            <a:off x="8695944" y="2423160"/>
            <a:ext cx="320040" cy="365760"/>
          </a:xfrm>
          <a:prstGeom prst="chevron">
            <a:avLst/>
          </a:prstGeom>
          <a:solidFill>
            <a:srgbClr val="C99A5B"/>
          </a:solidFill>
          <a:ln w="12700">
            <a:solidFill>
              <a:srgbClr val="C99A5B"/>
            </a:solidFill>
            <a:prstDash val="solid"/>
          </a:ln>
        </p:spPr>
      </p:sp>
      <p:sp>
        <p:nvSpPr>
          <p:cNvPr id="30" name="Shape 28"/>
          <p:cNvSpPr/>
          <p:nvPr/>
        </p:nvSpPr>
        <p:spPr>
          <a:xfrm>
            <a:off x="4800600" y="4251960"/>
            <a:ext cx="6245352" cy="987552"/>
          </a:xfrm>
          <a:prstGeom prst="roundRect">
            <a:avLst>
              <a:gd name="adj" fmla="val 14815"/>
            </a:avLst>
          </a:prstGeom>
          <a:solidFill>
            <a:srgbClr val="EEF7F2"/>
          </a:solidFill>
          <a:ln w="12700">
            <a:solidFill>
              <a:srgbClr val="CBE0D5"/>
            </a:solidFill>
            <a:prstDash val="solid"/>
          </a:ln>
        </p:spPr>
      </p:sp>
      <p:sp>
        <p:nvSpPr>
          <p:cNvPr id="31" name="Text 29"/>
          <p:cNvSpPr/>
          <p:nvPr/>
        </p:nvSpPr>
        <p:spPr>
          <a:xfrm>
            <a:off x="5074920" y="4407408"/>
            <a:ext cx="2194560" cy="228600"/>
          </a:xfrm>
          <a:prstGeom prst="rect">
            <a:avLst/>
          </a:prstGeom>
          <a:noFill/>
          <a:ln/>
        </p:spPr>
        <p:txBody>
          <a:bodyPr wrap="square" lIns="0" tIns="0" rIns="0" bIns="0" rtlCol="0" anchor="ctr"/>
          <a:lstStyle/>
          <a:p>
            <a:pPr marL="0" indent="0">
              <a:buNone/>
            </a:pPr>
            <a:r>
              <a:rPr lang="en-US" sz="1100" b="1" dirty="0">
                <a:solidFill>
                  <a:srgbClr val="0E4D3A"/>
                </a:solidFill>
              </a:rPr>
              <a:t>Key experiment settings</a:t>
            </a:r>
            <a:endParaRPr lang="en-US" sz="1100" dirty="0"/>
          </a:p>
        </p:txBody>
      </p:sp>
      <p:sp>
        <p:nvSpPr>
          <p:cNvPr id="32" name="Shape 30"/>
          <p:cNvSpPr/>
          <p:nvPr/>
        </p:nvSpPr>
        <p:spPr>
          <a:xfrm>
            <a:off x="5074920" y="4718304"/>
            <a:ext cx="1280160" cy="310896"/>
          </a:xfrm>
          <a:prstGeom prst="roundRect">
            <a:avLst>
              <a:gd name="adj" fmla="val 35294"/>
            </a:avLst>
          </a:prstGeom>
          <a:solidFill>
            <a:srgbClr val="FFFFFF"/>
          </a:solidFill>
          <a:ln w="10160">
            <a:solidFill>
              <a:srgbClr val="D4E5DB"/>
            </a:solidFill>
            <a:prstDash val="solid"/>
          </a:ln>
        </p:spPr>
      </p:sp>
      <p:sp>
        <p:nvSpPr>
          <p:cNvPr id="33" name="Text 31"/>
          <p:cNvSpPr/>
          <p:nvPr/>
        </p:nvSpPr>
        <p:spPr>
          <a:xfrm>
            <a:off x="5138928" y="4764024"/>
            <a:ext cx="502920" cy="137160"/>
          </a:xfrm>
          <a:prstGeom prst="rect">
            <a:avLst/>
          </a:prstGeom>
          <a:noFill/>
          <a:ln/>
        </p:spPr>
        <p:txBody>
          <a:bodyPr wrap="square" lIns="0" tIns="0" rIns="0" bIns="0" rtlCol="0" anchor="ctr"/>
          <a:lstStyle/>
          <a:p>
            <a:pPr marL="0" indent="0">
              <a:buNone/>
            </a:pPr>
            <a:r>
              <a:rPr lang="en-US" sz="880" b="1" dirty="0">
                <a:solidFill>
                  <a:srgbClr val="7A4A24"/>
                </a:solidFill>
              </a:rPr>
              <a:t>10 t</a:t>
            </a:r>
            <a:endParaRPr lang="en-US" sz="880" dirty="0"/>
          </a:p>
        </p:txBody>
      </p:sp>
      <p:sp>
        <p:nvSpPr>
          <p:cNvPr id="34" name="Text 32"/>
          <p:cNvSpPr/>
          <p:nvPr/>
        </p:nvSpPr>
        <p:spPr>
          <a:xfrm>
            <a:off x="5596128" y="4764024"/>
            <a:ext cx="713232" cy="137160"/>
          </a:xfrm>
          <a:prstGeom prst="rect">
            <a:avLst/>
          </a:prstGeom>
          <a:noFill/>
          <a:ln/>
        </p:spPr>
        <p:txBody>
          <a:bodyPr wrap="square" lIns="0" tIns="0" rIns="0" bIns="0" rtlCol="0" anchor="ctr"/>
          <a:lstStyle/>
          <a:p>
            <a:pPr marL="0" indent="0">
              <a:buNone/>
            </a:pPr>
            <a:r>
              <a:rPr lang="en-US" sz="880" dirty="0">
                <a:solidFill>
                  <a:srgbClr val="5F6B6E"/>
                </a:solidFill>
              </a:rPr>
              <a:t>truck</a:t>
            </a:r>
            <a:endParaRPr lang="en-US" sz="880" dirty="0"/>
          </a:p>
        </p:txBody>
      </p:sp>
      <p:sp>
        <p:nvSpPr>
          <p:cNvPr id="35" name="Shape 33"/>
          <p:cNvSpPr/>
          <p:nvPr/>
        </p:nvSpPr>
        <p:spPr>
          <a:xfrm>
            <a:off x="6519672" y="4718304"/>
            <a:ext cx="1280160" cy="310896"/>
          </a:xfrm>
          <a:prstGeom prst="roundRect">
            <a:avLst>
              <a:gd name="adj" fmla="val 35294"/>
            </a:avLst>
          </a:prstGeom>
          <a:solidFill>
            <a:srgbClr val="FFFFFF"/>
          </a:solidFill>
          <a:ln w="10160">
            <a:solidFill>
              <a:srgbClr val="D4E5DB"/>
            </a:solidFill>
            <a:prstDash val="solid"/>
          </a:ln>
        </p:spPr>
      </p:sp>
      <p:sp>
        <p:nvSpPr>
          <p:cNvPr id="36" name="Text 34"/>
          <p:cNvSpPr/>
          <p:nvPr/>
        </p:nvSpPr>
        <p:spPr>
          <a:xfrm>
            <a:off x="6583680" y="4764024"/>
            <a:ext cx="502920" cy="137160"/>
          </a:xfrm>
          <a:prstGeom prst="rect">
            <a:avLst/>
          </a:prstGeom>
          <a:noFill/>
          <a:ln/>
        </p:spPr>
        <p:txBody>
          <a:bodyPr wrap="square" lIns="0" tIns="0" rIns="0" bIns="0" rtlCol="0" anchor="ctr"/>
          <a:lstStyle/>
          <a:p>
            <a:pPr marL="0" indent="0">
              <a:buNone/>
            </a:pPr>
            <a:r>
              <a:rPr lang="en-US" sz="880" b="1" dirty="0">
                <a:solidFill>
                  <a:srgbClr val="7A4A24"/>
                </a:solidFill>
              </a:rPr>
              <a:t>8 h</a:t>
            </a:r>
            <a:endParaRPr lang="en-US" sz="880" dirty="0"/>
          </a:p>
        </p:txBody>
      </p:sp>
      <p:sp>
        <p:nvSpPr>
          <p:cNvPr id="37" name="Text 35"/>
          <p:cNvSpPr/>
          <p:nvPr/>
        </p:nvSpPr>
        <p:spPr>
          <a:xfrm>
            <a:off x="7040880" y="4764024"/>
            <a:ext cx="713232" cy="137160"/>
          </a:xfrm>
          <a:prstGeom prst="rect">
            <a:avLst/>
          </a:prstGeom>
          <a:noFill/>
          <a:ln/>
        </p:spPr>
        <p:txBody>
          <a:bodyPr wrap="square" lIns="0" tIns="0" rIns="0" bIns="0" rtlCol="0" anchor="ctr"/>
          <a:lstStyle/>
          <a:p>
            <a:pPr marL="0" indent="0">
              <a:buNone/>
            </a:pPr>
            <a:r>
              <a:rPr lang="en-US" sz="880" dirty="0">
                <a:solidFill>
                  <a:srgbClr val="5F6B6E"/>
                </a:solidFill>
              </a:rPr>
              <a:t>route limit</a:t>
            </a:r>
            <a:endParaRPr lang="en-US" sz="880" dirty="0"/>
          </a:p>
        </p:txBody>
      </p:sp>
      <p:sp>
        <p:nvSpPr>
          <p:cNvPr id="38" name="Shape 36"/>
          <p:cNvSpPr/>
          <p:nvPr/>
        </p:nvSpPr>
        <p:spPr>
          <a:xfrm>
            <a:off x="7964424" y="4718304"/>
            <a:ext cx="1280160" cy="310896"/>
          </a:xfrm>
          <a:prstGeom prst="roundRect">
            <a:avLst>
              <a:gd name="adj" fmla="val 35294"/>
            </a:avLst>
          </a:prstGeom>
          <a:solidFill>
            <a:srgbClr val="FFFFFF"/>
          </a:solidFill>
          <a:ln w="10160">
            <a:solidFill>
              <a:srgbClr val="D4E5DB"/>
            </a:solidFill>
            <a:prstDash val="solid"/>
          </a:ln>
        </p:spPr>
      </p:sp>
      <p:sp>
        <p:nvSpPr>
          <p:cNvPr id="39" name="Text 37"/>
          <p:cNvSpPr/>
          <p:nvPr/>
        </p:nvSpPr>
        <p:spPr>
          <a:xfrm>
            <a:off x="8028432" y="4764024"/>
            <a:ext cx="502920" cy="137160"/>
          </a:xfrm>
          <a:prstGeom prst="rect">
            <a:avLst/>
          </a:prstGeom>
          <a:noFill/>
          <a:ln/>
        </p:spPr>
        <p:txBody>
          <a:bodyPr wrap="square" lIns="0" tIns="0" rIns="0" bIns="0" rtlCol="0" anchor="ctr"/>
          <a:lstStyle/>
          <a:p>
            <a:pPr marL="0" indent="0">
              <a:buNone/>
            </a:pPr>
            <a:r>
              <a:rPr lang="en-US" sz="880" b="1" dirty="0">
                <a:solidFill>
                  <a:srgbClr val="7A4A24"/>
                </a:solidFill>
              </a:rPr>
              <a:t>KSh 16</a:t>
            </a:r>
            <a:endParaRPr lang="en-US" sz="880" dirty="0"/>
          </a:p>
        </p:txBody>
      </p:sp>
      <p:sp>
        <p:nvSpPr>
          <p:cNvPr id="40" name="Text 38"/>
          <p:cNvSpPr/>
          <p:nvPr/>
        </p:nvSpPr>
        <p:spPr>
          <a:xfrm>
            <a:off x="8485632" y="4764024"/>
            <a:ext cx="713232" cy="137160"/>
          </a:xfrm>
          <a:prstGeom prst="rect">
            <a:avLst/>
          </a:prstGeom>
          <a:noFill/>
          <a:ln/>
        </p:spPr>
        <p:txBody>
          <a:bodyPr wrap="square" lIns="0" tIns="0" rIns="0" bIns="0" rtlCol="0" anchor="ctr"/>
          <a:lstStyle/>
          <a:p>
            <a:pPr marL="0" indent="0">
              <a:buNone/>
            </a:pPr>
            <a:r>
              <a:rPr lang="en-US" sz="880" dirty="0">
                <a:solidFill>
                  <a:srgbClr val="5F6B6E"/>
                </a:solidFill>
              </a:rPr>
              <a:t>per tonne-km</a:t>
            </a:r>
            <a:endParaRPr lang="en-US" sz="880" dirty="0"/>
          </a:p>
        </p:txBody>
      </p:sp>
      <p:sp>
        <p:nvSpPr>
          <p:cNvPr id="41" name="Shape 39"/>
          <p:cNvSpPr/>
          <p:nvPr/>
        </p:nvSpPr>
        <p:spPr>
          <a:xfrm>
            <a:off x="9409176" y="4718304"/>
            <a:ext cx="1280160" cy="310896"/>
          </a:xfrm>
          <a:prstGeom prst="roundRect">
            <a:avLst>
              <a:gd name="adj" fmla="val 35294"/>
            </a:avLst>
          </a:prstGeom>
          <a:solidFill>
            <a:srgbClr val="FFFFFF"/>
          </a:solidFill>
          <a:ln w="10160">
            <a:solidFill>
              <a:srgbClr val="D4E5DB"/>
            </a:solidFill>
            <a:prstDash val="solid"/>
          </a:ln>
        </p:spPr>
      </p:sp>
      <p:sp>
        <p:nvSpPr>
          <p:cNvPr id="42" name="Text 40"/>
          <p:cNvSpPr/>
          <p:nvPr/>
        </p:nvSpPr>
        <p:spPr>
          <a:xfrm>
            <a:off x="9473184" y="4764024"/>
            <a:ext cx="502920" cy="137160"/>
          </a:xfrm>
          <a:prstGeom prst="rect">
            <a:avLst/>
          </a:prstGeom>
          <a:noFill/>
          <a:ln/>
        </p:spPr>
        <p:txBody>
          <a:bodyPr wrap="square" lIns="0" tIns="0" rIns="0" bIns="0" rtlCol="0" anchor="ctr"/>
          <a:lstStyle/>
          <a:p>
            <a:pPr marL="0" indent="0">
              <a:buNone/>
            </a:pPr>
            <a:r>
              <a:rPr lang="en-US" sz="880" b="1" dirty="0">
                <a:solidFill>
                  <a:srgbClr val="7A4A24"/>
                </a:solidFill>
              </a:rPr>
              <a:t>4,096</a:t>
            </a:r>
            <a:endParaRPr lang="en-US" sz="880" dirty="0"/>
          </a:p>
        </p:txBody>
      </p:sp>
      <p:sp>
        <p:nvSpPr>
          <p:cNvPr id="43" name="Text 41"/>
          <p:cNvSpPr/>
          <p:nvPr/>
        </p:nvSpPr>
        <p:spPr>
          <a:xfrm>
            <a:off x="9930384" y="4764024"/>
            <a:ext cx="713232" cy="137160"/>
          </a:xfrm>
          <a:prstGeom prst="rect">
            <a:avLst/>
          </a:prstGeom>
          <a:noFill/>
          <a:ln/>
        </p:spPr>
        <p:txBody>
          <a:bodyPr wrap="square" lIns="0" tIns="0" rIns="0" bIns="0" rtlCol="0" anchor="ctr"/>
          <a:lstStyle/>
          <a:p>
            <a:pPr marL="0" indent="0">
              <a:buNone/>
            </a:pPr>
            <a:r>
              <a:rPr lang="en-US" sz="880" dirty="0">
                <a:solidFill>
                  <a:srgbClr val="5F6B6E"/>
                </a:solidFill>
              </a:rPr>
              <a:t>measurements</a:t>
            </a:r>
            <a:endParaRPr lang="en-US" sz="880" dirty="0"/>
          </a:p>
        </p:txBody>
      </p:sp>
      <p:sp>
        <p:nvSpPr>
          <p:cNvPr id="44" name="Shape 42"/>
          <p:cNvSpPr/>
          <p:nvPr/>
        </p:nvSpPr>
        <p:spPr>
          <a:xfrm>
            <a:off x="594360" y="5596128"/>
            <a:ext cx="10451592" cy="594360"/>
          </a:xfrm>
          <a:prstGeom prst="roundRect">
            <a:avLst>
              <a:gd name="adj" fmla="val 27692"/>
            </a:avLst>
          </a:prstGeom>
          <a:solidFill>
            <a:srgbClr val="0E4D3A"/>
          </a:solidFill>
          <a:ln w="12700">
            <a:solidFill>
              <a:srgbClr val="0E4D3A"/>
            </a:solidFill>
            <a:prstDash val="solid"/>
          </a:ln>
        </p:spPr>
      </p:sp>
      <p:sp>
        <p:nvSpPr>
          <p:cNvPr id="45" name="Text 43"/>
          <p:cNvSpPr/>
          <p:nvPr/>
        </p:nvSpPr>
        <p:spPr>
          <a:xfrm>
            <a:off x="850392" y="5788152"/>
            <a:ext cx="9921240" cy="201168"/>
          </a:xfrm>
          <a:prstGeom prst="rect">
            <a:avLst/>
          </a:prstGeom>
          <a:noFill/>
          <a:ln/>
        </p:spPr>
        <p:txBody>
          <a:bodyPr wrap="square" lIns="0" tIns="0" rIns="0" bIns="0" rtlCol="0" anchor="ctr"/>
          <a:lstStyle/>
          <a:p>
            <a:pPr marL="0" indent="0" algn="ctr">
              <a:buNone/>
            </a:pPr>
            <a:r>
              <a:rPr lang="en-US" sz="1250" dirty="0">
                <a:solidFill>
                  <a:srgbClr val="FFFFFF"/>
                </a:solidFill>
                <a:latin typeface="Aptos" pitchFamily="34" charset="0"/>
                <a:ea typeface="Aptos" pitchFamily="34" charset="-122"/>
                <a:cs typeface="Aptos" pitchFamily="34" charset="-120"/>
              </a:rPr>
              <a:t>Takeaway: quantum does not replace the full logistics system — it helps test route-choice search, starting small and scaling step by step.</a:t>
            </a:r>
            <a:endParaRPr lang="en-US" sz="1250" dirty="0"/>
          </a:p>
        </p:txBody>
      </p:sp>
      <p:sp>
        <p:nvSpPr>
          <p:cNvPr id="46" name="Text 44"/>
          <p:cNvSpPr/>
          <p:nvPr/>
        </p:nvSpPr>
        <p:spPr>
          <a:xfrm>
            <a:off x="10378440" y="384048"/>
            <a:ext cx="1234440" cy="201168"/>
          </a:xfrm>
          <a:prstGeom prst="rect">
            <a:avLst/>
          </a:prstGeom>
          <a:noFill/>
          <a:ln/>
        </p:spPr>
        <p:txBody>
          <a:bodyPr wrap="square" lIns="0" tIns="0" rIns="0" bIns="0" rtlCol="0" anchor="ctr"/>
          <a:lstStyle/>
          <a:p>
            <a:pPr marL="0" indent="0" algn="r">
              <a:buNone/>
            </a:pPr>
            <a:r>
              <a:rPr lang="en-US" sz="850" dirty="0">
                <a:solidFill>
                  <a:srgbClr val="7A7A7A"/>
                </a:solidFill>
              </a:rPr>
              <a:t>Quantum slide 1</a:t>
            </a:r>
            <a:endParaRPr lang="en-US" sz="85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dirty="0">
                <a:solidFill>
                  <a:srgbClr val="00C2FF"/>
                </a:solidFill>
                <a:latin typeface="Calibri" pitchFamily="34" charset="0"/>
                <a:ea typeface="Calibri" pitchFamily="34" charset="-122"/>
                <a:cs typeface="Calibri" pitchFamily="34" charset="-120"/>
              </a:rPr>
              <a:t>05  </a:t>
            </a:r>
            <a:r>
              <a:rPr lang="en-US" sz="1200" b="1" kern="0" spc="200" dirty="0">
                <a:solidFill>
                  <a:srgbClr val="8B85AA"/>
                </a:solidFill>
                <a:latin typeface="Calibri" pitchFamily="34" charset="0"/>
                <a:ea typeface="Calibri" pitchFamily="34" charset="-122"/>
                <a:cs typeface="Calibri" pitchFamily="34" charset="-120"/>
              </a:rPr>
              <a:t>HEAD-TO-HEAD</a:t>
            </a:r>
            <a:endParaRPr lang="en-US" sz="1200" dirty="0"/>
          </a:p>
        </p:txBody>
      </p:sp>
      <p:sp>
        <p:nvSpPr>
          <p:cNvPr id="3" name="Text 1"/>
          <p:cNvSpPr txBox="1"/>
          <p:nvPr/>
        </p:nvSpPr>
        <p:spPr>
          <a:xfrm>
            <a:off x="0" y="0"/>
            <a:ext cx="12192000" cy="777240"/>
          </a:xfrm>
          <a:prstGeom prst="rect">
            <a:avLst/>
          </a:prstGeom>
          <a:solidFill>
            <a:srgbClr val="00B050"/>
          </a:solidFill>
          <a:ln/>
        </p:spPr>
        <p:txBody>
          <a:bodyPr wrap="square" lIns="0" tIns="0" rIns="0" bIns="0" rtlCol="0" anchor="ctr"/>
          <a:lstStyle/>
          <a:p>
            <a:pPr marL="0" indent="0" algn="ctr">
              <a:buNone/>
            </a:pPr>
            <a:r>
              <a:rPr lang="en-US" sz="3600" b="1" dirty="0">
                <a:latin typeface="Cambria" pitchFamily="34" charset="0"/>
                <a:ea typeface="Cambria" pitchFamily="34" charset="-122"/>
                <a:cs typeface="Cambria" pitchFamily="34" charset="-120"/>
              </a:rPr>
              <a:t>Classical vs Quantum</a:t>
            </a:r>
            <a:endParaRPr lang="en-US" sz="3600" dirty="0"/>
          </a:p>
        </p:txBody>
      </p:sp>
      <p:grpSp>
        <p:nvGrpSpPr>
          <p:cNvPr id="8" name="Group 7"/>
          <p:cNvGrpSpPr/>
          <p:nvPr/>
        </p:nvGrpSpPr>
        <p:grpSpPr>
          <a:xfrm>
            <a:off x="624344" y="1341120"/>
            <a:ext cx="11151131" cy="4936210"/>
            <a:chOff x="674804" y="1693190"/>
            <a:chExt cx="11151131" cy="4936210"/>
          </a:xfrm>
        </p:grpSpPr>
        <p:sp>
          <p:nvSpPr>
            <p:cNvPr id="5" name="Text 2"/>
            <p:cNvSpPr txBox="1"/>
            <p:nvPr/>
          </p:nvSpPr>
          <p:spPr>
            <a:xfrm>
              <a:off x="11277295" y="6355080"/>
              <a:ext cx="548640" cy="274320"/>
            </a:xfrm>
            <a:prstGeom prst="rect">
              <a:avLst/>
            </a:prstGeom>
            <a:noFill/>
            <a:ln/>
          </p:spPr>
          <p:txBody>
            <a:bodyPr wrap="square" lIns="0" tIns="0" rIns="0" bIns="0" rtlCol="0" anchor="ctr"/>
            <a:lstStyle/>
            <a:p>
              <a:pPr marL="0" indent="0" algn="r">
                <a:buNone/>
              </a:pPr>
              <a:r>
                <a:rPr lang="en-US" sz="1000" dirty="0">
                  <a:solidFill>
                    <a:srgbClr val="8B85AA"/>
                  </a:solidFill>
                  <a:latin typeface="Calibri" pitchFamily="34" charset="0"/>
                  <a:ea typeface="Calibri" pitchFamily="34" charset="-122"/>
                  <a:cs typeface="Calibri" pitchFamily="34" charset="-120"/>
                </a:rPr>
                <a:t>06</a:t>
              </a:r>
              <a:endParaRPr lang="en-US" sz="1000" dirty="0"/>
            </a:p>
          </p:txBody>
        </p:sp>
        <p:pic>
          <p:nvPicPr>
            <p:cNvPr id="4" name="Picture 3"/>
            <p:cNvPicPr>
              <a:picLocks noChangeAspect="1"/>
            </p:cNvPicPr>
            <p:nvPr/>
          </p:nvPicPr>
          <p:blipFill>
            <a:blip r:embed="rId3"/>
            <a:srcRect/>
            <a:stretch/>
          </p:blipFill>
          <p:spPr>
            <a:xfrm>
              <a:off x="674804" y="2309168"/>
              <a:ext cx="5525106" cy="3269057"/>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2447"/>
            <a:stretch/>
          </p:blipFill>
          <p:spPr>
            <a:xfrm>
              <a:off x="6098771" y="1693190"/>
              <a:ext cx="5541818" cy="4936209"/>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0" y="0"/>
            <a:ext cx="12192000" cy="777240"/>
          </a:xfrm>
          <a:prstGeom prst="rect">
            <a:avLst/>
          </a:prstGeom>
          <a:solidFill>
            <a:srgbClr val="00B050"/>
          </a:solidFill>
          <a:ln/>
        </p:spPr>
        <p:txBody>
          <a:bodyPr wrap="square" lIns="0" tIns="0" rIns="0" bIns="0" rtlCol="0" anchor="ctr"/>
          <a:lstStyle/>
          <a:p>
            <a:pPr marL="0" indent="0" algn="ctr">
              <a:buNone/>
            </a:pPr>
            <a:r>
              <a:rPr lang="en-US" sz="3600" b="1" dirty="0">
                <a:latin typeface="Cambria" pitchFamily="34" charset="0"/>
                <a:ea typeface="Cambria" pitchFamily="34" charset="-122"/>
                <a:cs typeface="Cambria" pitchFamily="34" charset="-120"/>
              </a:rPr>
              <a:t>Sustainable development Impact</a:t>
            </a:r>
            <a:endParaRPr lang="en-US" sz="3600" b="1" dirty="0"/>
          </a:p>
        </p:txBody>
      </p:sp>
      <p:graphicFrame>
        <p:nvGraphicFramePr>
          <p:cNvPr id="19" name="Table 18">
            <a:extLst>
              <a:ext uri="{FF2B5EF4-FFF2-40B4-BE49-F238E27FC236}">
                <a16:creationId xmlns:a16="http://schemas.microsoft.com/office/drawing/2014/main" id="{A35ABD8F-487F-6B3F-F5EF-8792E9CBEE24}"/>
              </a:ext>
            </a:extLst>
          </p:cNvPr>
          <p:cNvGraphicFramePr>
            <a:graphicFrameLocks noGrp="1"/>
          </p:cNvGraphicFramePr>
          <p:nvPr>
            <p:extLst>
              <p:ext uri="{D42A27DB-BD31-4B8C-83A1-F6EECF244321}">
                <p14:modId xmlns:p14="http://schemas.microsoft.com/office/powerpoint/2010/main" val="4047653157"/>
              </p:ext>
            </p:extLst>
          </p:nvPr>
        </p:nvGraphicFramePr>
        <p:xfrm>
          <a:off x="567146" y="1152761"/>
          <a:ext cx="10813868" cy="1691640"/>
        </p:xfrm>
        <a:graphic>
          <a:graphicData uri="http://schemas.openxmlformats.org/drawingml/2006/table">
            <a:tbl>
              <a:tblPr>
                <a:tableStyleId>{5C22544A-7EE6-4342-B048-85BDC9FD1C3A}</a:tableStyleId>
              </a:tblPr>
              <a:tblGrid>
                <a:gridCol w="2703467">
                  <a:extLst>
                    <a:ext uri="{9D8B030D-6E8A-4147-A177-3AD203B41FA5}">
                      <a16:colId xmlns:a16="http://schemas.microsoft.com/office/drawing/2014/main" val="1194709344"/>
                    </a:ext>
                  </a:extLst>
                </a:gridCol>
                <a:gridCol w="2703467">
                  <a:extLst>
                    <a:ext uri="{9D8B030D-6E8A-4147-A177-3AD203B41FA5}">
                      <a16:colId xmlns:a16="http://schemas.microsoft.com/office/drawing/2014/main" val="2578194323"/>
                    </a:ext>
                  </a:extLst>
                </a:gridCol>
                <a:gridCol w="2703467">
                  <a:extLst>
                    <a:ext uri="{9D8B030D-6E8A-4147-A177-3AD203B41FA5}">
                      <a16:colId xmlns:a16="http://schemas.microsoft.com/office/drawing/2014/main" val="1035115780"/>
                    </a:ext>
                  </a:extLst>
                </a:gridCol>
                <a:gridCol w="2703467">
                  <a:extLst>
                    <a:ext uri="{9D8B030D-6E8A-4147-A177-3AD203B41FA5}">
                      <a16:colId xmlns:a16="http://schemas.microsoft.com/office/drawing/2014/main" val="3403678817"/>
                    </a:ext>
                  </a:extLst>
                </a:gridCol>
              </a:tblGrid>
              <a:tr h="563880">
                <a:tc>
                  <a:txBody>
                    <a:bodyPr/>
                    <a:lstStyle/>
                    <a:p>
                      <a:pPr>
                        <a:buNone/>
                      </a:pPr>
                      <a:r>
                        <a:rPr lang="en-US" dirty="0"/>
                        <a:t>👥 BENEFITS</a:t>
                      </a:r>
                    </a:p>
                  </a:txBody>
                  <a:tcPr anchor="ctr"/>
                </a:tc>
                <a:tc>
                  <a:txBody>
                    <a:bodyPr/>
                    <a:lstStyle/>
                    <a:p>
                      <a:pPr>
                        <a:buNone/>
                      </a:pPr>
                      <a:r>
                        <a:rPr lang="en-US" dirty="0"/>
                        <a:t>🚚 IMPROVES</a:t>
                      </a:r>
                    </a:p>
                  </a:txBody>
                  <a:tcPr anchor="ctr"/>
                </a:tc>
                <a:tc>
                  <a:txBody>
                    <a:bodyPr/>
                    <a:lstStyle/>
                    <a:p>
                      <a:pPr>
                        <a:buNone/>
                      </a:pPr>
                      <a:r>
                        <a:rPr lang="en-US"/>
                        <a:t>📊 MEASURES</a:t>
                      </a:r>
                    </a:p>
                  </a:txBody>
                  <a:tcPr anchor="ctr"/>
                </a:tc>
                <a:tc>
                  <a:txBody>
                    <a:bodyPr/>
                    <a:lstStyle/>
                    <a:p>
                      <a:pPr>
                        <a:buNone/>
                      </a:pPr>
                      <a:r>
                        <a:rPr lang="en-US"/>
                        <a:t>🌱 IMPACT</a:t>
                      </a:r>
                    </a:p>
                  </a:txBody>
                  <a:tcPr anchor="ctr"/>
                </a:tc>
                <a:extLst>
                  <a:ext uri="{0D108BD9-81ED-4DB2-BD59-A6C34878D82A}">
                    <a16:rowId xmlns:a16="http://schemas.microsoft.com/office/drawing/2014/main" val="3795974864"/>
                  </a:ext>
                </a:extLst>
              </a:tr>
              <a:tr h="563880">
                <a:tc>
                  <a:txBody>
                    <a:bodyPr/>
                    <a:lstStyle/>
                    <a:p>
                      <a:pPr>
                        <a:buNone/>
                      </a:pPr>
                      <a:r>
                        <a:rPr lang="en-US"/>
                        <a:t>Farmers &amp; Cooperatives</a:t>
                      </a:r>
                    </a:p>
                  </a:txBody>
                  <a:tcPr anchor="ctr"/>
                </a:tc>
                <a:tc>
                  <a:txBody>
                    <a:bodyPr/>
                    <a:lstStyle/>
                    <a:p>
                      <a:pPr>
                        <a:buNone/>
                      </a:pPr>
                      <a:r>
                        <a:rPr lang="en-US" dirty="0"/>
                        <a:t>Routes &amp; Delivery costs</a:t>
                      </a:r>
                    </a:p>
                  </a:txBody>
                  <a:tcPr anchor="ctr"/>
                </a:tc>
                <a:tc>
                  <a:txBody>
                    <a:bodyPr/>
                    <a:lstStyle/>
                    <a:p>
                      <a:pPr>
                        <a:buNone/>
                      </a:pPr>
                      <a:r>
                        <a:rPr lang="en-US"/>
                        <a:t>Cost • Distance • Time</a:t>
                      </a:r>
                    </a:p>
                  </a:txBody>
                  <a:tcPr anchor="ctr"/>
                </a:tc>
                <a:tc>
                  <a:txBody>
                    <a:bodyPr/>
                    <a:lstStyle/>
                    <a:p>
                      <a:pPr>
                        <a:buNone/>
                      </a:pPr>
                      <a:r>
                        <a:rPr lang="en-US" dirty="0"/>
                        <a:t>Efficient Agriculture</a:t>
                      </a:r>
                    </a:p>
                  </a:txBody>
                  <a:tcPr anchor="ctr"/>
                </a:tc>
                <a:extLst>
                  <a:ext uri="{0D108BD9-81ED-4DB2-BD59-A6C34878D82A}">
                    <a16:rowId xmlns:a16="http://schemas.microsoft.com/office/drawing/2014/main" val="199777642"/>
                  </a:ext>
                </a:extLst>
              </a:tr>
              <a:tr h="563880">
                <a:tc>
                  <a:txBody>
                    <a:bodyPr/>
                    <a:lstStyle/>
                    <a:p>
                      <a:pPr>
                        <a:buNone/>
                      </a:pPr>
                      <a:r>
                        <a:rPr lang="en-US" dirty="0"/>
                        <a:t>Distributors</a:t>
                      </a:r>
                    </a:p>
                  </a:txBody>
                  <a:tcPr anchor="ctr"/>
                </a:tc>
                <a:tc>
                  <a:txBody>
                    <a:bodyPr/>
                    <a:lstStyle/>
                    <a:p>
                      <a:pPr>
                        <a:buNone/>
                      </a:pPr>
                      <a:r>
                        <a:rPr lang="en-US" dirty="0"/>
                        <a:t>Fertilizer allocation</a:t>
                      </a:r>
                    </a:p>
                  </a:txBody>
                  <a:tcPr anchor="ctr"/>
                </a:tc>
                <a:tc>
                  <a:txBody>
                    <a:bodyPr/>
                    <a:lstStyle/>
                    <a:p>
                      <a:pPr>
                        <a:buNone/>
                      </a:pPr>
                      <a:r>
                        <a:rPr lang="en-US" dirty="0"/>
                        <a:t>Fuel Consumption</a:t>
                      </a:r>
                    </a:p>
                  </a:txBody>
                  <a:tcPr anchor="ctr"/>
                </a:tc>
                <a:tc>
                  <a:txBody>
                    <a:bodyPr/>
                    <a:lstStyle/>
                    <a:p>
                      <a:pPr>
                        <a:buNone/>
                      </a:pPr>
                      <a:r>
                        <a:rPr lang="en-US" dirty="0"/>
                        <a:t>Lower Resource Use</a:t>
                      </a:r>
                    </a:p>
                  </a:txBody>
                  <a:tcPr anchor="ctr"/>
                </a:tc>
                <a:extLst>
                  <a:ext uri="{0D108BD9-81ED-4DB2-BD59-A6C34878D82A}">
                    <a16:rowId xmlns:a16="http://schemas.microsoft.com/office/drawing/2014/main" val="1104032534"/>
                  </a:ext>
                </a:extLst>
              </a:tr>
            </a:tbl>
          </a:graphicData>
        </a:graphic>
      </p:graphicFrame>
      <p:sp>
        <p:nvSpPr>
          <p:cNvPr id="20" name="TextBox 19">
            <a:extLst>
              <a:ext uri="{FF2B5EF4-FFF2-40B4-BE49-F238E27FC236}">
                <a16:creationId xmlns:a16="http://schemas.microsoft.com/office/drawing/2014/main" id="{C3F446D8-B55D-3181-FB83-9817E37570E0}"/>
              </a:ext>
            </a:extLst>
          </p:cNvPr>
          <p:cNvSpPr txBox="1"/>
          <p:nvPr/>
        </p:nvSpPr>
        <p:spPr>
          <a:xfrm>
            <a:off x="1695994" y="3416397"/>
            <a:ext cx="8368938" cy="1015663"/>
          </a:xfrm>
          <a:prstGeom prst="rect">
            <a:avLst/>
          </a:prstGeom>
          <a:noFill/>
        </p:spPr>
        <p:txBody>
          <a:bodyPr wrap="square" rtlCol="0">
            <a:spAutoFit/>
          </a:bodyPr>
          <a:lstStyle/>
          <a:p>
            <a:pPr algn="ctr"/>
            <a:r>
              <a:rPr lang="en-US" sz="2000" dirty="0"/>
              <a:t>⚠️ </a:t>
            </a:r>
            <a:r>
              <a:rPr lang="en-US" sz="2000" b="1" dirty="0"/>
              <a:t>Risk:</a:t>
            </a:r>
            <a:r>
              <a:rPr lang="en-US" sz="2000" dirty="0"/>
              <a:t> Data acquisition &amp; completeness</a:t>
            </a:r>
          </a:p>
          <a:p>
            <a:pPr algn="ctr"/>
            <a:br>
              <a:rPr lang="en-US" sz="2000" dirty="0"/>
            </a:br>
            <a:r>
              <a:rPr lang="en-US" sz="2000" dirty="0"/>
              <a:t>🔄 </a:t>
            </a:r>
            <a:r>
              <a:rPr lang="en-US" sz="2000" b="1" dirty="0"/>
              <a:t>Scalable:</a:t>
            </a:r>
            <a:r>
              <a:rPr lang="en-US" sz="2000" dirty="0"/>
              <a:t> Other agricultural supply chains</a:t>
            </a:r>
          </a:p>
        </p:txBody>
      </p:sp>
      <p:pic>
        <p:nvPicPr>
          <p:cNvPr id="21" name="Picture 20" descr="File:Sustainable Development Goal 2.png - Wikimedia Commons">
            <a:extLst>
              <a:ext uri="{FF2B5EF4-FFF2-40B4-BE49-F238E27FC236}">
                <a16:creationId xmlns:a16="http://schemas.microsoft.com/office/drawing/2014/main" id="{ABF39375-E4E5-DA98-0A55-0FD3BA3D1F97}"/>
              </a:ext>
            </a:extLst>
          </p:cNvPr>
          <p:cNvPicPr>
            <a:picLocks noChangeAspect="1"/>
          </p:cNvPicPr>
          <p:nvPr/>
        </p:nvPicPr>
        <p:blipFill>
          <a:blip r:embed="rId3"/>
          <a:stretch>
            <a:fillRect/>
          </a:stretch>
        </p:blipFill>
        <p:spPr>
          <a:xfrm>
            <a:off x="1075509" y="5085189"/>
            <a:ext cx="1240971" cy="1240971"/>
          </a:xfrm>
          <a:prstGeom prst="rect">
            <a:avLst/>
          </a:prstGeom>
        </p:spPr>
      </p:pic>
      <p:pic>
        <p:nvPicPr>
          <p:cNvPr id="24" name="Picture 23" descr="File:Sustainable Development Goal 13Climate.svg - Wikimedia ...">
            <a:extLst>
              <a:ext uri="{FF2B5EF4-FFF2-40B4-BE49-F238E27FC236}">
                <a16:creationId xmlns:a16="http://schemas.microsoft.com/office/drawing/2014/main" id="{7F343994-B567-BFA5-A80C-9AB7EAA3846C}"/>
              </a:ext>
            </a:extLst>
          </p:cNvPr>
          <p:cNvPicPr>
            <a:picLocks noChangeAspect="1"/>
          </p:cNvPicPr>
          <p:nvPr/>
        </p:nvPicPr>
        <p:blipFill>
          <a:blip r:embed="rId4"/>
          <a:stretch>
            <a:fillRect/>
          </a:stretch>
        </p:blipFill>
        <p:spPr>
          <a:xfrm>
            <a:off x="4768142" y="5085190"/>
            <a:ext cx="1509287" cy="1240970"/>
          </a:xfrm>
          <a:prstGeom prst="rect">
            <a:avLst/>
          </a:prstGeom>
        </p:spPr>
      </p:pic>
      <p:pic>
        <p:nvPicPr>
          <p:cNvPr id="25" name="Picture 24" descr="File:F SDG-goals icons-individual-rgb-12.png - Wikimedia Commons">
            <a:extLst>
              <a:ext uri="{FF2B5EF4-FFF2-40B4-BE49-F238E27FC236}">
                <a16:creationId xmlns:a16="http://schemas.microsoft.com/office/drawing/2014/main" id="{4E47F1A3-CC0F-C7C7-F509-A59A61166DB7}"/>
              </a:ext>
            </a:extLst>
          </p:cNvPr>
          <p:cNvPicPr>
            <a:picLocks noChangeAspect="1"/>
          </p:cNvPicPr>
          <p:nvPr/>
        </p:nvPicPr>
        <p:blipFill>
          <a:blip r:embed="rId5"/>
          <a:stretch>
            <a:fillRect/>
          </a:stretch>
        </p:blipFill>
        <p:spPr>
          <a:xfrm>
            <a:off x="8789688" y="5085189"/>
            <a:ext cx="1643743" cy="12163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dirty="0">
                <a:solidFill>
                  <a:srgbClr val="00C2FF"/>
                </a:solidFill>
                <a:latin typeface="Calibri" pitchFamily="34" charset="0"/>
                <a:ea typeface="Calibri" pitchFamily="34" charset="-122"/>
                <a:cs typeface="Calibri" pitchFamily="34" charset="-120"/>
              </a:rPr>
              <a:t>09  </a:t>
            </a:r>
            <a:r>
              <a:rPr lang="en-US" sz="1200" b="1" kern="0" spc="200" dirty="0">
                <a:solidFill>
                  <a:srgbClr val="8B85AA"/>
                </a:solidFill>
                <a:latin typeface="Calibri" pitchFamily="34" charset="0"/>
                <a:ea typeface="Calibri" pitchFamily="34" charset="-122"/>
                <a:cs typeface="Calibri" pitchFamily="34" charset="-120"/>
              </a:rPr>
              <a:t>WHAT'S NEXT</a:t>
            </a:r>
            <a:endParaRPr lang="en-US" sz="1200" dirty="0"/>
          </a:p>
        </p:txBody>
      </p:sp>
      <p:sp>
        <p:nvSpPr>
          <p:cNvPr id="3" name="Text 1"/>
          <p:cNvSpPr txBox="1"/>
          <p:nvPr/>
        </p:nvSpPr>
        <p:spPr>
          <a:xfrm>
            <a:off x="0" y="0"/>
            <a:ext cx="12192000" cy="777240"/>
          </a:xfrm>
          <a:prstGeom prst="rect">
            <a:avLst/>
          </a:prstGeom>
          <a:solidFill>
            <a:srgbClr val="00B050"/>
          </a:solidFill>
          <a:ln/>
        </p:spPr>
        <p:txBody>
          <a:bodyPr wrap="square" lIns="0" tIns="0" rIns="0" bIns="0" rtlCol="0" anchor="ctr"/>
          <a:lstStyle/>
          <a:p>
            <a:pPr marL="0" indent="0" algn="ctr">
              <a:buNone/>
            </a:pPr>
            <a:r>
              <a:rPr lang="en-US" sz="3200" b="1" dirty="0">
                <a:latin typeface="Cambria" pitchFamily="34" charset="0"/>
                <a:ea typeface="Cambria" pitchFamily="34" charset="-122"/>
                <a:cs typeface="Cambria" pitchFamily="34" charset="-120"/>
              </a:rPr>
              <a:t>Feasibility, Scalability &amp; Adoption</a:t>
            </a:r>
            <a:endParaRPr lang="en-US" sz="3200" dirty="0"/>
          </a:p>
        </p:txBody>
      </p:sp>
      <p:sp>
        <p:nvSpPr>
          <p:cNvPr id="4" name="Shape 2"/>
          <p:cNvSpPr/>
          <p:nvPr/>
        </p:nvSpPr>
        <p:spPr>
          <a:xfrm>
            <a:off x="747979" y="1485900"/>
            <a:ext cx="3383280" cy="4160520"/>
          </a:xfrm>
          <a:prstGeom prst="roundRect">
            <a:avLst>
              <a:gd name="adj" fmla="val 2703"/>
            </a:avLst>
          </a:prstGeom>
          <a:solidFill>
            <a:srgbClr val="F6F3FC"/>
          </a:solidFill>
          <a:ln/>
        </p:spPr>
      </p:sp>
      <p:sp>
        <p:nvSpPr>
          <p:cNvPr id="5" name="Shape 3"/>
          <p:cNvSpPr/>
          <p:nvPr/>
        </p:nvSpPr>
        <p:spPr>
          <a:xfrm>
            <a:off x="1068019" y="1851660"/>
            <a:ext cx="640080" cy="640080"/>
          </a:xfrm>
          <a:prstGeom prst="ellipse">
            <a:avLst/>
          </a:prstGeom>
          <a:solidFill>
            <a:schemeClr val="accent6">
              <a:lumMod val="50000"/>
            </a:schemeClr>
          </a:solidFill>
          <a:ln/>
        </p:spPr>
      </p:sp>
      <p:pic>
        <p:nvPicPr>
          <p:cNvPr id="6" name="Image 0" descr="icons/bulb.png"/>
          <p:cNvPicPr>
            <a:picLocks noChangeAspect="1"/>
          </p:cNvPicPr>
          <p:nvPr/>
        </p:nvPicPr>
        <p:blipFill>
          <a:blip r:embed="rId3"/>
          <a:stretch>
            <a:fillRect/>
          </a:stretch>
        </p:blipFill>
        <p:spPr>
          <a:xfrm>
            <a:off x="1221638" y="2005279"/>
            <a:ext cx="332842" cy="332842"/>
          </a:xfrm>
          <a:prstGeom prst="rect">
            <a:avLst/>
          </a:prstGeom>
        </p:spPr>
      </p:pic>
      <p:sp>
        <p:nvSpPr>
          <p:cNvPr id="7" name="Text 4"/>
          <p:cNvSpPr txBox="1"/>
          <p:nvPr/>
        </p:nvSpPr>
        <p:spPr>
          <a:xfrm>
            <a:off x="1068019" y="2674620"/>
            <a:ext cx="2743200" cy="411480"/>
          </a:xfrm>
          <a:prstGeom prst="rect">
            <a:avLst/>
          </a:prstGeom>
          <a:noFill/>
          <a:ln/>
        </p:spPr>
        <p:txBody>
          <a:bodyPr wrap="square" lIns="0" tIns="0" rIns="0" bIns="0" rtlCol="0" anchor="ctr"/>
          <a:lstStyle/>
          <a:p>
            <a:pPr marL="0" indent="0">
              <a:buNone/>
            </a:pPr>
            <a:r>
              <a:rPr lang="en-US" sz="2400" b="1" dirty="0">
                <a:solidFill>
                  <a:srgbClr val="1F1A3D"/>
                </a:solidFill>
                <a:latin typeface="Calibri" pitchFamily="34" charset="0"/>
                <a:ea typeface="Calibri" pitchFamily="34" charset="-122"/>
                <a:cs typeface="Calibri" pitchFamily="34" charset="-120"/>
              </a:rPr>
              <a:t>Feasibility</a:t>
            </a:r>
            <a:endParaRPr lang="en-US" sz="2400" dirty="0"/>
          </a:p>
        </p:txBody>
      </p:sp>
      <p:sp>
        <p:nvSpPr>
          <p:cNvPr id="8" name="Text 5"/>
          <p:cNvSpPr txBox="1"/>
          <p:nvPr/>
        </p:nvSpPr>
        <p:spPr>
          <a:xfrm>
            <a:off x="1068019" y="3177540"/>
            <a:ext cx="2743200" cy="2286000"/>
          </a:xfrm>
          <a:prstGeom prst="rect">
            <a:avLst/>
          </a:prstGeom>
          <a:noFill/>
          <a:ln/>
        </p:spPr>
        <p:txBody>
          <a:bodyPr wrap="square" lIns="0" tIns="0" rIns="0" bIns="0" rtlCol="0" anchor="t"/>
          <a:lstStyle/>
          <a:p>
            <a:pPr marL="0" indent="0">
              <a:lnSpc>
                <a:spcPct val="125000"/>
              </a:lnSpc>
              <a:buNone/>
            </a:pPr>
            <a:r>
              <a:rPr lang="en-US" sz="2000" dirty="0">
                <a:solidFill>
                  <a:srgbClr val="4B4670"/>
                </a:solidFill>
                <a:latin typeface="Calibri" pitchFamily="34" charset="0"/>
                <a:ea typeface="Calibri" pitchFamily="34" charset="-122"/>
                <a:cs typeface="Calibri" pitchFamily="34" charset="-120"/>
              </a:rPr>
              <a:t>The classical model is deployable today. The quantum approach is testable now through cloud simulators and hardware access — D-Wave Leap and Cirq.</a:t>
            </a:r>
            <a:endParaRPr lang="en-US" sz="2000" dirty="0"/>
          </a:p>
        </p:txBody>
      </p:sp>
      <p:sp>
        <p:nvSpPr>
          <p:cNvPr id="9" name="Shape 6"/>
          <p:cNvSpPr/>
          <p:nvPr/>
        </p:nvSpPr>
        <p:spPr>
          <a:xfrm>
            <a:off x="4389120" y="1965960"/>
            <a:ext cx="3383280" cy="4160520"/>
          </a:xfrm>
          <a:prstGeom prst="roundRect">
            <a:avLst>
              <a:gd name="adj" fmla="val 2703"/>
            </a:avLst>
          </a:prstGeom>
          <a:solidFill>
            <a:srgbClr val="F6F3FC"/>
          </a:solidFill>
          <a:ln/>
        </p:spPr>
      </p:sp>
      <p:sp>
        <p:nvSpPr>
          <p:cNvPr id="10" name="Shape 7"/>
          <p:cNvSpPr/>
          <p:nvPr/>
        </p:nvSpPr>
        <p:spPr>
          <a:xfrm>
            <a:off x="4709160" y="2331720"/>
            <a:ext cx="640080" cy="640080"/>
          </a:xfrm>
          <a:prstGeom prst="ellipse">
            <a:avLst/>
          </a:prstGeom>
          <a:solidFill>
            <a:srgbClr val="FF0000"/>
          </a:solidFill>
          <a:ln/>
        </p:spPr>
      </p:sp>
      <p:pic>
        <p:nvPicPr>
          <p:cNvPr id="11" name="Image 1" descr="icons/expand.png"/>
          <p:cNvPicPr>
            <a:picLocks noChangeAspect="1"/>
          </p:cNvPicPr>
          <p:nvPr/>
        </p:nvPicPr>
        <p:blipFill>
          <a:blip r:embed="rId4"/>
          <a:stretch>
            <a:fillRect/>
          </a:stretch>
        </p:blipFill>
        <p:spPr>
          <a:xfrm>
            <a:off x="4862779" y="2485339"/>
            <a:ext cx="332842" cy="332842"/>
          </a:xfrm>
          <a:prstGeom prst="rect">
            <a:avLst/>
          </a:prstGeom>
        </p:spPr>
      </p:pic>
      <p:sp>
        <p:nvSpPr>
          <p:cNvPr id="12" name="Text 8"/>
          <p:cNvSpPr txBox="1"/>
          <p:nvPr/>
        </p:nvSpPr>
        <p:spPr>
          <a:xfrm>
            <a:off x="4709160" y="3154680"/>
            <a:ext cx="2743200" cy="411480"/>
          </a:xfrm>
          <a:prstGeom prst="rect">
            <a:avLst/>
          </a:prstGeom>
          <a:noFill/>
          <a:ln/>
        </p:spPr>
        <p:txBody>
          <a:bodyPr wrap="square" lIns="0" tIns="0" rIns="0" bIns="0" rtlCol="0" anchor="ctr"/>
          <a:lstStyle/>
          <a:p>
            <a:pPr marL="0" indent="0">
              <a:buNone/>
            </a:pPr>
            <a:r>
              <a:rPr lang="en-US" sz="2400" b="1" dirty="0">
                <a:solidFill>
                  <a:srgbClr val="1F1A3D"/>
                </a:solidFill>
                <a:latin typeface="Calibri" pitchFamily="34" charset="0"/>
                <a:ea typeface="Calibri" pitchFamily="34" charset="-122"/>
                <a:cs typeface="Calibri" pitchFamily="34" charset="-120"/>
              </a:rPr>
              <a:t>Scalability</a:t>
            </a:r>
            <a:endParaRPr lang="en-US" sz="2400" dirty="0"/>
          </a:p>
        </p:txBody>
      </p:sp>
      <p:sp>
        <p:nvSpPr>
          <p:cNvPr id="13" name="Text 9"/>
          <p:cNvSpPr txBox="1"/>
          <p:nvPr/>
        </p:nvSpPr>
        <p:spPr>
          <a:xfrm>
            <a:off x="4709160" y="3657600"/>
            <a:ext cx="2743200" cy="2286000"/>
          </a:xfrm>
          <a:prstGeom prst="rect">
            <a:avLst/>
          </a:prstGeom>
          <a:noFill/>
          <a:ln/>
        </p:spPr>
        <p:txBody>
          <a:bodyPr wrap="square" lIns="0" tIns="0" rIns="0" bIns="0" rtlCol="0" anchor="t"/>
          <a:lstStyle/>
          <a:p>
            <a:pPr marL="0" indent="0">
              <a:lnSpc>
                <a:spcPct val="125000"/>
              </a:lnSpc>
              <a:buNone/>
            </a:pPr>
            <a:r>
              <a:rPr lang="en-US" sz="2000" dirty="0">
                <a:solidFill>
                  <a:srgbClr val="4B4670"/>
                </a:solidFill>
                <a:latin typeface="Calibri" pitchFamily="34" charset="0"/>
                <a:ea typeface="Calibri" pitchFamily="34" charset="-122"/>
                <a:cs typeface="Calibri" pitchFamily="34" charset="-120"/>
              </a:rPr>
              <a:t>The framework extends naturally to more factories, more depots, and eventually county-wide distribution networks.</a:t>
            </a:r>
            <a:endParaRPr lang="en-US" sz="2000" dirty="0"/>
          </a:p>
        </p:txBody>
      </p:sp>
      <p:sp>
        <p:nvSpPr>
          <p:cNvPr id="14" name="Shape 10"/>
          <p:cNvSpPr/>
          <p:nvPr/>
        </p:nvSpPr>
        <p:spPr>
          <a:xfrm>
            <a:off x="8138160" y="1965960"/>
            <a:ext cx="3383280" cy="4160520"/>
          </a:xfrm>
          <a:prstGeom prst="roundRect">
            <a:avLst>
              <a:gd name="adj" fmla="val 2703"/>
            </a:avLst>
          </a:prstGeom>
          <a:solidFill>
            <a:srgbClr val="F6F3FC"/>
          </a:solidFill>
          <a:ln/>
        </p:spPr>
      </p:sp>
      <p:sp>
        <p:nvSpPr>
          <p:cNvPr id="15" name="Shape 11"/>
          <p:cNvSpPr/>
          <p:nvPr/>
        </p:nvSpPr>
        <p:spPr>
          <a:xfrm>
            <a:off x="8458200" y="2331720"/>
            <a:ext cx="640080" cy="640080"/>
          </a:xfrm>
          <a:prstGeom prst="ellipse">
            <a:avLst/>
          </a:prstGeom>
          <a:solidFill>
            <a:schemeClr val="accent6">
              <a:lumMod val="50000"/>
            </a:schemeClr>
          </a:solidFill>
          <a:ln/>
        </p:spPr>
      </p:sp>
      <p:pic>
        <p:nvPicPr>
          <p:cNvPr id="16" name="Image 2" descr="icons/handshake.png"/>
          <p:cNvPicPr>
            <a:picLocks noChangeAspect="1"/>
          </p:cNvPicPr>
          <p:nvPr/>
        </p:nvPicPr>
        <p:blipFill>
          <a:blip r:embed="rId5"/>
          <a:stretch>
            <a:fillRect/>
          </a:stretch>
        </p:blipFill>
        <p:spPr>
          <a:xfrm>
            <a:off x="8611819" y="2485339"/>
            <a:ext cx="332842" cy="332842"/>
          </a:xfrm>
          <a:prstGeom prst="rect">
            <a:avLst/>
          </a:prstGeom>
        </p:spPr>
      </p:pic>
      <p:sp>
        <p:nvSpPr>
          <p:cNvPr id="17" name="Text 12"/>
          <p:cNvSpPr txBox="1"/>
          <p:nvPr/>
        </p:nvSpPr>
        <p:spPr>
          <a:xfrm>
            <a:off x="8458200" y="3154680"/>
            <a:ext cx="2743200" cy="411480"/>
          </a:xfrm>
          <a:prstGeom prst="rect">
            <a:avLst/>
          </a:prstGeom>
          <a:noFill/>
          <a:ln/>
        </p:spPr>
        <p:txBody>
          <a:bodyPr wrap="square" lIns="0" tIns="0" rIns="0" bIns="0" rtlCol="0" anchor="ctr"/>
          <a:lstStyle/>
          <a:p>
            <a:pPr marL="0" indent="0">
              <a:buNone/>
            </a:pPr>
            <a:r>
              <a:rPr lang="en-US" sz="2400" b="1" dirty="0">
                <a:solidFill>
                  <a:srgbClr val="1F1A3D"/>
                </a:solidFill>
                <a:latin typeface="Calibri" pitchFamily="34" charset="0"/>
                <a:ea typeface="Calibri" pitchFamily="34" charset="-122"/>
                <a:cs typeface="Calibri" pitchFamily="34" charset="-120"/>
              </a:rPr>
              <a:t>Adoption</a:t>
            </a:r>
            <a:endParaRPr lang="en-US" sz="2400" dirty="0"/>
          </a:p>
        </p:txBody>
      </p:sp>
      <p:sp>
        <p:nvSpPr>
          <p:cNvPr id="18" name="Text 13"/>
          <p:cNvSpPr txBox="1"/>
          <p:nvPr/>
        </p:nvSpPr>
        <p:spPr>
          <a:xfrm>
            <a:off x="8458200" y="3657600"/>
            <a:ext cx="2743200" cy="2286000"/>
          </a:xfrm>
          <a:prstGeom prst="rect">
            <a:avLst/>
          </a:prstGeom>
          <a:noFill/>
          <a:ln/>
        </p:spPr>
        <p:txBody>
          <a:bodyPr wrap="square" lIns="0" tIns="0" rIns="0" bIns="0" rtlCol="0" anchor="t"/>
          <a:lstStyle/>
          <a:p>
            <a:pPr marL="0" indent="0">
              <a:lnSpc>
                <a:spcPct val="125000"/>
              </a:lnSpc>
              <a:buNone/>
            </a:pPr>
            <a:r>
              <a:rPr lang="en-US" sz="2000" dirty="0">
                <a:solidFill>
                  <a:srgbClr val="4B4670"/>
                </a:solidFill>
                <a:latin typeface="Calibri" pitchFamily="34" charset="0"/>
                <a:ea typeface="Calibri" pitchFamily="34" charset="-122"/>
                <a:cs typeface="Calibri" pitchFamily="34" charset="-120"/>
              </a:rPr>
              <a:t>Requires buy-in from NCPB and Baragwi FCS, staff training, and integration with existing dispatch processes.</a:t>
            </a:r>
            <a:endParaRPr lang="en-US" sz="2000" dirty="0"/>
          </a:p>
        </p:txBody>
      </p:sp>
      <p:sp>
        <p:nvSpPr>
          <p:cNvPr id="19" name="Text 14"/>
          <p:cNvSpPr txBox="1"/>
          <p:nvPr/>
        </p:nvSpPr>
        <p:spPr>
          <a:xfrm>
            <a:off x="11277295" y="6355080"/>
            <a:ext cx="548640" cy="274320"/>
          </a:xfrm>
          <a:prstGeom prst="rect">
            <a:avLst/>
          </a:prstGeom>
          <a:noFill/>
          <a:ln/>
        </p:spPr>
        <p:txBody>
          <a:bodyPr wrap="square" lIns="0" tIns="0" rIns="0" bIns="0" rtlCol="0" anchor="ctr"/>
          <a:lstStyle/>
          <a:p>
            <a:pPr marL="0" indent="0" algn="r">
              <a:buNone/>
            </a:pPr>
            <a:r>
              <a:rPr lang="en-US" sz="1000" dirty="0">
                <a:solidFill>
                  <a:srgbClr val="8B85AA"/>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alphaModFix amt="54000"/>
            <a:lum/>
          </a:blip>
          <a:srcRect/>
          <a:stretch>
            <a:fillRect t="-9000" b="-9000"/>
          </a:stretch>
        </a:blipFill>
        <a:effectLst/>
      </p:bgPr>
    </p:bg>
    <p:spTree>
      <p:nvGrpSpPr>
        <p:cNvPr id="1" name=""/>
        <p:cNvGrpSpPr/>
        <p:nvPr/>
      </p:nvGrpSpPr>
      <p:grpSpPr>
        <a:xfrm>
          <a:off x="0" y="0"/>
          <a:ext cx="0" cy="0"/>
          <a:chOff x="0" y="0"/>
          <a:chExt cx="0" cy="0"/>
        </a:xfrm>
      </p:grpSpPr>
      <p:sp>
        <p:nvSpPr>
          <p:cNvPr id="2" name="Shape 0"/>
          <p:cNvSpPr/>
          <p:nvPr/>
        </p:nvSpPr>
        <p:spPr>
          <a:xfrm>
            <a:off x="8433054" y="614934"/>
            <a:ext cx="2976372" cy="2976372"/>
          </a:xfrm>
          <a:prstGeom prst="ellipse">
            <a:avLst/>
          </a:prstGeom>
          <a:ln w="15875">
            <a:solidFill>
              <a:srgbClr val="3A3170"/>
            </a:solidFill>
            <a:prstDash val="solid"/>
          </a:ln>
        </p:spPr>
      </p:sp>
      <p:sp>
        <p:nvSpPr>
          <p:cNvPr id="3" name="Shape 1"/>
          <p:cNvSpPr/>
          <p:nvPr/>
        </p:nvSpPr>
        <p:spPr>
          <a:xfrm>
            <a:off x="7856982" y="38862"/>
            <a:ext cx="4128516" cy="4128516"/>
          </a:xfrm>
          <a:prstGeom prst="ellipse">
            <a:avLst/>
          </a:prstGeom>
          <a:ln w="15875">
            <a:solidFill>
              <a:srgbClr val="00C2FF"/>
            </a:solidFill>
            <a:prstDash val="solid"/>
          </a:ln>
        </p:spPr>
      </p:sp>
      <p:sp>
        <p:nvSpPr>
          <p:cNvPr id="4" name="Shape 2"/>
          <p:cNvSpPr/>
          <p:nvPr/>
        </p:nvSpPr>
        <p:spPr>
          <a:xfrm>
            <a:off x="7280910" y="-537210"/>
            <a:ext cx="5280660" cy="5280660"/>
          </a:xfrm>
          <a:prstGeom prst="ellipse">
            <a:avLst/>
          </a:prstGeom>
          <a:ln w="15875">
            <a:solidFill>
              <a:srgbClr val="3A3170"/>
            </a:solidFill>
            <a:prstDash val="dash"/>
          </a:ln>
        </p:spPr>
      </p:sp>
      <p:sp>
        <p:nvSpPr>
          <p:cNvPr id="5" name="Shape 3"/>
          <p:cNvSpPr/>
          <p:nvPr/>
        </p:nvSpPr>
        <p:spPr>
          <a:xfrm>
            <a:off x="9815627" y="1997507"/>
            <a:ext cx="211226" cy="211226"/>
          </a:xfrm>
          <a:prstGeom prst="ellipse">
            <a:avLst/>
          </a:prstGeom>
          <a:solidFill>
            <a:srgbClr val="00C2FF"/>
          </a:solidFill>
          <a:ln/>
        </p:spPr>
      </p:sp>
      <p:sp>
        <p:nvSpPr>
          <p:cNvPr id="6" name="Shape 4"/>
          <p:cNvSpPr/>
          <p:nvPr/>
        </p:nvSpPr>
        <p:spPr>
          <a:xfrm>
            <a:off x="11085427" y="2901844"/>
            <a:ext cx="109728" cy="109728"/>
          </a:xfrm>
          <a:prstGeom prst="ellipse">
            <a:avLst/>
          </a:prstGeom>
          <a:solidFill>
            <a:srgbClr val="7C5CFC"/>
          </a:solidFill>
          <a:ln/>
        </p:spPr>
      </p:sp>
      <p:sp>
        <p:nvSpPr>
          <p:cNvPr id="7" name="Shape 5"/>
          <p:cNvSpPr/>
          <p:nvPr/>
        </p:nvSpPr>
        <p:spPr>
          <a:xfrm>
            <a:off x="7926608" y="1342238"/>
            <a:ext cx="109728" cy="109728"/>
          </a:xfrm>
          <a:prstGeom prst="ellipse">
            <a:avLst/>
          </a:prstGeom>
          <a:solidFill>
            <a:srgbClr val="7C5CFC"/>
          </a:solidFill>
          <a:ln/>
        </p:spPr>
      </p:sp>
      <p:sp>
        <p:nvSpPr>
          <p:cNvPr id="8" name="Shape 6"/>
          <p:cNvSpPr/>
          <p:nvPr/>
        </p:nvSpPr>
        <p:spPr>
          <a:xfrm>
            <a:off x="11186541" y="-238337"/>
            <a:ext cx="109728" cy="109728"/>
          </a:xfrm>
          <a:prstGeom prst="ellipse">
            <a:avLst/>
          </a:prstGeom>
          <a:solidFill>
            <a:srgbClr val="7C5CFC"/>
          </a:solidFill>
          <a:ln/>
        </p:spPr>
      </p:sp>
      <p:sp>
        <p:nvSpPr>
          <p:cNvPr id="9" name="Shape 7"/>
          <p:cNvSpPr/>
          <p:nvPr/>
        </p:nvSpPr>
        <p:spPr>
          <a:xfrm>
            <a:off x="9507921" y="4081153"/>
            <a:ext cx="109728" cy="109728"/>
          </a:xfrm>
          <a:prstGeom prst="ellipse">
            <a:avLst/>
          </a:prstGeom>
          <a:solidFill>
            <a:srgbClr val="7C5CFC"/>
          </a:solidFill>
          <a:ln/>
        </p:spPr>
      </p:sp>
      <p:sp>
        <p:nvSpPr>
          <p:cNvPr id="10" name="Text 8"/>
          <p:cNvSpPr txBox="1"/>
          <p:nvPr/>
        </p:nvSpPr>
        <p:spPr>
          <a:xfrm>
            <a:off x="878967" y="1214222"/>
            <a:ext cx="7315200" cy="365760"/>
          </a:xfrm>
          <a:prstGeom prst="rect">
            <a:avLst/>
          </a:prstGeom>
          <a:noFill/>
          <a:ln/>
        </p:spPr>
        <p:txBody>
          <a:bodyPr wrap="square" lIns="0" tIns="0" rIns="0" bIns="0" rtlCol="0" anchor="ctr"/>
          <a:lstStyle/>
          <a:p>
            <a:pPr marL="0" indent="0">
              <a:buNone/>
            </a:pPr>
            <a:r>
              <a:rPr lang="en-US" sz="5400" b="1" kern="0" spc="200" dirty="0">
                <a:latin typeface="Times New Roman" panose="02020603050405020304" pitchFamily="18" charset="0"/>
                <a:ea typeface="Calibri" pitchFamily="34" charset="-122"/>
                <a:cs typeface="Times New Roman" panose="02020603050405020304" pitchFamily="18" charset="0"/>
              </a:rPr>
              <a:t>THANK YOU</a:t>
            </a:r>
            <a:endParaRPr lang="en-US" sz="5400" dirty="0">
              <a:latin typeface="Times New Roman" panose="02020603050405020304" pitchFamily="18" charset="0"/>
              <a:cs typeface="Times New Roman" panose="02020603050405020304" pitchFamily="18" charset="0"/>
            </a:endParaRPr>
          </a:p>
        </p:txBody>
      </p:sp>
      <p:sp>
        <p:nvSpPr>
          <p:cNvPr id="11" name="Text 9"/>
          <p:cNvSpPr txBox="1"/>
          <p:nvPr/>
        </p:nvSpPr>
        <p:spPr>
          <a:xfrm>
            <a:off x="640080" y="2697480"/>
            <a:ext cx="960120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Questions &amp; Discussion</a:t>
            </a:r>
            <a:endParaRPr lang="en-US" sz="4200" dirty="0"/>
          </a:p>
        </p:txBody>
      </p:sp>
      <p:sp>
        <p:nvSpPr>
          <p:cNvPr id="12" name="Text 10"/>
          <p:cNvSpPr txBox="1"/>
          <p:nvPr/>
        </p:nvSpPr>
        <p:spPr>
          <a:xfrm>
            <a:off x="796291" y="4063746"/>
            <a:ext cx="8229600" cy="457200"/>
          </a:xfrm>
          <a:prstGeom prst="rect">
            <a:avLst/>
          </a:prstGeom>
          <a:noFill/>
          <a:ln/>
        </p:spPr>
        <p:txBody>
          <a:bodyPr wrap="square" lIns="0" tIns="0" rIns="0" bIns="0" rtlCol="0" anchor="ctr"/>
          <a:lstStyle/>
          <a:p>
            <a:pPr marL="0" indent="0">
              <a:buNone/>
            </a:pPr>
            <a:r>
              <a:rPr lang="en-US" sz="2400" b="1" i="1" dirty="0">
                <a:latin typeface="Calibri" pitchFamily="34" charset="0"/>
                <a:ea typeface="Calibri" pitchFamily="34" charset="-122"/>
                <a:cs typeface="Calibri" pitchFamily="34" charset="-120"/>
              </a:rPr>
              <a:t>Q-FerliRoutes — Q-SOLVE Quantum Innovation Hackathon</a:t>
            </a:r>
            <a:endParaRPr lang="en-US" sz="2400" b="1" dirty="0"/>
          </a:p>
        </p:txBody>
      </p:sp>
      <p:sp>
        <p:nvSpPr>
          <p:cNvPr id="13" name="Text 11"/>
          <p:cNvSpPr txBox="1"/>
          <p:nvPr/>
        </p:nvSpPr>
        <p:spPr>
          <a:xfrm>
            <a:off x="658368" y="6080760"/>
            <a:ext cx="10515600" cy="365760"/>
          </a:xfrm>
          <a:prstGeom prst="rect">
            <a:avLst/>
          </a:prstGeom>
          <a:noFill/>
          <a:ln/>
        </p:spPr>
        <p:txBody>
          <a:bodyPr wrap="square" lIns="0" tIns="0" rIns="0" bIns="0" rtlCol="0" anchor="ctr"/>
          <a:lstStyle/>
          <a:p>
            <a:pPr marL="0" indent="0">
              <a:buNone/>
            </a:pPr>
            <a:endParaRPr lang="en-US" sz="1250" dirty="0"/>
          </a:p>
        </p:txBody>
      </p:sp>
      <p:sp>
        <p:nvSpPr>
          <p:cNvPr id="15" name="Shape 0">
            <a:extLst>
              <a:ext uri="{FF2B5EF4-FFF2-40B4-BE49-F238E27FC236}">
                <a16:creationId xmlns:a16="http://schemas.microsoft.com/office/drawing/2014/main" id="{8F9906BA-FE87-5517-84CE-5321037A621C}"/>
              </a:ext>
            </a:extLst>
          </p:cNvPr>
          <p:cNvSpPr/>
          <p:nvPr/>
        </p:nvSpPr>
        <p:spPr>
          <a:xfrm>
            <a:off x="8433054" y="660654"/>
            <a:ext cx="2976372" cy="2976372"/>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3A3170"/>
            </a:solidFill>
            <a:prstDash val="solid"/>
          </a:ln>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TotalTime>
  <Words>587</Words>
  <Application>Microsoft Office PowerPoint</Application>
  <PresentationFormat>Widescreen</PresentationFormat>
  <Paragraphs>99</Paragraphs>
  <Slides>8</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Aptos</vt:lpstr>
      <vt:lpstr>Aptos Display</vt:lpstr>
      <vt:lpstr>Arial</vt:lpstr>
      <vt:lpstr>Book Antiqua</vt:lpstr>
      <vt:lpstr>Calibri</vt:lpstr>
      <vt:lpstr>Cambria</vt:lpstr>
      <vt:lpstr>Menlo</vt:lpstr>
      <vt:lpstr>quote-cjk-patch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HomePC</cp:lastModifiedBy>
  <cp:revision>35</cp:revision>
  <dcterms:created xsi:type="dcterms:W3CDTF">2026-09-03T03:53:03Z</dcterms:created>
  <dcterms:modified xsi:type="dcterms:W3CDTF">2026-09-03T11:24:33Z</dcterms:modified>
</cp:coreProperties>
</file>